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41768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Stance: Gyeorugi is a taekwondo sparring game. This is the first draft of the game design document, version 0.4 dated 19 September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statement from GDD 1.3 and genre from 1.4. Sparring only: forms (poomsae) and breaking are out of scope.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Controller layout fixed on 2026-09-14. Open question: which of RS left/right gives the roundhouse and which the hook, and whether that is relative to the opponent or the screen.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images set tone and layout only; they are not used in the game.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developer, about 8 months. Exact Second Half dates follow once BCIT publishes the 2027 schedule.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6.jpg"/><Relationship Id="rId5" Type="http://schemas.openxmlformats.org/officeDocument/2006/relationships/image" Target="../media/image2.jpg"/><Relationship Id="rId4" Type="http://schemas.openxmlformats.org/officeDocument/2006/relationships/image" Target="../media/image4.jp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B10"/>
        </a:solidFill>
        <a:effectLst/>
      </p:bgPr>
    </p:bg>
    <p:spTree>
      <p:nvGrpSpPr>
        <p:cNvPr id="1" name=""/>
        <p:cNvGrpSpPr/>
        <p:nvPr/>
      </p:nvGrpSpPr>
      <p:grpSpPr>
        <a:xfrm>
          <a:off x="0" y="0"/>
          <a:ext cx="0" cy="0"/>
          <a:chOff x="0" y="0"/>
          <a:chExt cx="0" cy="0"/>
        </a:xfrm>
      </p:grpSpPr>
      <p:pic>
        <p:nvPicPr>
          <p:cNvPr id="2" name="Image 0" descr="img/cover.png"/>
          <p:cNvPicPr>
            <a:picLocks noChangeAspect="1"/>
          </p:cNvPicPr>
          <p:nvPr/>
        </p:nvPicPr>
        <p:blipFill>
          <a:blip r:embed="rId3"/>
          <a:stretch>
            <a:fillRect/>
          </a:stretch>
        </p:blipFill>
        <p:spPr>
          <a:xfrm>
            <a:off x="0" y="1981322"/>
            <a:ext cx="12191695" cy="4876678"/>
          </a:xfrm>
          <a:prstGeom prst="rect">
            <a:avLst/>
          </a:prstGeom>
        </p:spPr>
      </p:pic>
      <p:sp>
        <p:nvSpPr>
          <p:cNvPr id="3" name="Text 0"/>
          <p:cNvSpPr txBox="1"/>
          <p:nvPr/>
        </p:nvSpPr>
        <p:spPr>
          <a:xfrm>
            <a:off x="548640" y="548640"/>
            <a:ext cx="7315200" cy="274320"/>
          </a:xfrm>
          <a:prstGeom prst="rect">
            <a:avLst/>
          </a:prstGeom>
          <a:noFill/>
          <a:ln/>
        </p:spPr>
        <p:txBody>
          <a:bodyPr wrap="square" lIns="0" tIns="0" rIns="0" bIns="0" rtlCol="0" anchor="t"/>
          <a:lstStyle/>
          <a:p>
            <a:pPr marL="0" indent="0">
              <a:buNone/>
            </a:pPr>
            <a:r>
              <a:rPr lang="en-US" sz="1200" b="1" kern="0" spc="300" dirty="0">
                <a:solidFill>
                  <a:srgbClr val="9FB0C8"/>
                </a:solidFill>
                <a:latin typeface="Calibri" pitchFamily="34" charset="0"/>
                <a:ea typeface="Calibri" pitchFamily="34" charset="-122"/>
                <a:cs typeface="Calibri" pitchFamily="34" charset="-120"/>
              </a:rPr>
              <a:t>BCIT CAPSTONE · 2026–2027</a:t>
            </a:r>
            <a:endParaRPr lang="en-US" sz="1200" dirty="0"/>
          </a:p>
        </p:txBody>
      </p:sp>
      <p:sp>
        <p:nvSpPr>
          <p:cNvPr id="4" name="Text 1"/>
          <p:cNvSpPr txBox="1"/>
          <p:nvPr/>
        </p:nvSpPr>
        <p:spPr>
          <a:xfrm>
            <a:off x="548640" y="868680"/>
            <a:ext cx="8229600" cy="1005840"/>
          </a:xfrm>
          <a:prstGeom prst="rect">
            <a:avLst/>
          </a:prstGeom>
          <a:noFill/>
          <a:ln/>
        </p:spPr>
        <p:txBody>
          <a:bodyPr wrap="square" lIns="0" tIns="0" rIns="0" bIns="0" rtlCol="0" anchor="ctr"/>
          <a:lstStyle/>
          <a:p>
            <a:pPr marL="0" indent="0">
              <a:buNone/>
            </a:pPr>
            <a:r>
              <a:rPr lang="en-US" sz="6000" b="1" dirty="0">
                <a:solidFill>
                  <a:srgbClr val="FFFFFF"/>
                </a:solidFill>
                <a:latin typeface="Arial" pitchFamily="34" charset="0"/>
                <a:ea typeface="Arial" pitchFamily="34" charset="-122"/>
                <a:cs typeface="Arial" pitchFamily="34" charset="-120"/>
              </a:rPr>
              <a:t>Open Stance</a:t>
            </a:r>
            <a:endParaRPr lang="en-US" sz="6000" dirty="0"/>
          </a:p>
        </p:txBody>
      </p:sp>
      <p:sp>
        <p:nvSpPr>
          <p:cNvPr id="5" name="Text 2"/>
          <p:cNvSpPr txBox="1"/>
          <p:nvPr/>
        </p:nvSpPr>
        <p:spPr>
          <a:xfrm>
            <a:off x="548640" y="1920240"/>
            <a:ext cx="9144000" cy="411480"/>
          </a:xfrm>
          <a:prstGeom prst="rect">
            <a:avLst/>
          </a:prstGeom>
          <a:noFill/>
          <a:ln/>
        </p:spPr>
        <p:txBody>
          <a:bodyPr wrap="square" lIns="0" tIns="0" rIns="0" bIns="0" rtlCol="0" anchor="t"/>
          <a:lstStyle/>
          <a:p>
            <a:pPr marL="0" indent="0">
              <a:buNone/>
            </a:pPr>
            <a:r>
              <a:rPr lang="en-US" sz="2200" dirty="0">
                <a:solidFill>
                  <a:srgbClr val="E8EDF5"/>
                </a:solidFill>
                <a:latin typeface="Malgun Gothic" pitchFamily="34" charset="0"/>
                <a:ea typeface="Malgun Gothic" pitchFamily="34" charset="-122"/>
                <a:cs typeface="Malgun Gothic" pitchFamily="34" charset="-120"/>
              </a:rPr>
              <a:t>겨루기 </a:t>
            </a:r>
            <a:r>
              <a:rPr lang="en-US" sz="2200" dirty="0">
                <a:solidFill>
                  <a:srgbClr val="E8EDF5"/>
                </a:solidFill>
                <a:latin typeface="Calibri" pitchFamily="34" charset="0"/>
                <a:ea typeface="Calibri" pitchFamily="34" charset="-122"/>
                <a:cs typeface="Calibri" pitchFamily="34" charset="-120"/>
              </a:rPr>
              <a:t>Gyeorugi · Game Design Document, Draft 1</a:t>
            </a:r>
            <a:endParaRPr lang="en-US" sz="2200" dirty="0"/>
          </a:p>
        </p:txBody>
      </p:sp>
      <p:sp>
        <p:nvSpPr>
          <p:cNvPr id="6" name="Text 3"/>
          <p:cNvSpPr txBox="1"/>
          <p:nvPr/>
        </p:nvSpPr>
        <p:spPr>
          <a:xfrm>
            <a:off x="548640" y="2468880"/>
            <a:ext cx="5486400" cy="320040"/>
          </a:xfrm>
          <a:prstGeom prst="rect">
            <a:avLst/>
          </a:prstGeom>
          <a:noFill/>
          <a:ln/>
        </p:spPr>
        <p:txBody>
          <a:bodyPr wrap="square" lIns="0" tIns="0" rIns="0" bIns="0" rtlCol="0" anchor="t"/>
          <a:lstStyle/>
          <a:p>
            <a:pPr marL="0" indent="0">
              <a:buNone/>
            </a:pPr>
            <a:r>
              <a:rPr lang="en-US" sz="1600" dirty="0">
                <a:solidFill>
                  <a:srgbClr val="9FB0C8"/>
                </a:solidFill>
                <a:latin typeface="Calibri" pitchFamily="34" charset="0"/>
                <a:ea typeface="Calibri" pitchFamily="34" charset="-122"/>
                <a:cs typeface="Calibri" pitchFamily="34" charset="-120"/>
              </a:rPr>
              <a:t>Joey Driedger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DRAFT 1 PRESENTATION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Agenda</a:t>
            </a:r>
            <a:endParaRPr lang="en-US" sz="3400" dirty="0"/>
          </a:p>
        </p:txBody>
      </p:sp>
      <p:sp>
        <p:nvSpPr>
          <p:cNvPr id="6" name="Text 4"/>
          <p:cNvSpPr txBox="1"/>
          <p:nvPr/>
        </p:nvSpPr>
        <p:spPr>
          <a:xfrm>
            <a:off x="548640" y="1508760"/>
            <a:ext cx="1097280" cy="731520"/>
          </a:xfrm>
          <a:prstGeom prst="rect">
            <a:avLst/>
          </a:prstGeom>
          <a:noFill/>
          <a:ln/>
        </p:spPr>
        <p:txBody>
          <a:bodyPr wrap="square" lIns="0" tIns="0" rIns="0" bIns="0" rtlCol="0" anchor="ctr"/>
          <a:lstStyle/>
          <a:p>
            <a:pPr marL="0" indent="0">
              <a:buNone/>
            </a:pPr>
            <a:r>
              <a:rPr lang="en-US" sz="3600" b="1" dirty="0">
                <a:solidFill>
                  <a:srgbClr val="1F5BC4"/>
                </a:solidFill>
                <a:latin typeface="Arial" pitchFamily="34" charset="0"/>
                <a:ea typeface="Arial" pitchFamily="34" charset="-122"/>
                <a:cs typeface="Arial" pitchFamily="34" charset="-120"/>
              </a:rPr>
              <a:t>01</a:t>
            </a:r>
            <a:endParaRPr lang="en-US" sz="3600" dirty="0"/>
          </a:p>
        </p:txBody>
      </p:sp>
      <p:sp>
        <p:nvSpPr>
          <p:cNvPr id="7" name="Text 5"/>
          <p:cNvSpPr txBox="1"/>
          <p:nvPr/>
        </p:nvSpPr>
        <p:spPr>
          <a:xfrm>
            <a:off x="1828800" y="15544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The Game</a:t>
            </a:r>
            <a:endParaRPr lang="en-US" sz="2000" dirty="0"/>
          </a:p>
        </p:txBody>
      </p:sp>
      <p:sp>
        <p:nvSpPr>
          <p:cNvPr id="8" name="Text 6"/>
          <p:cNvSpPr txBox="1"/>
          <p:nvPr/>
        </p:nvSpPr>
        <p:spPr>
          <a:xfrm>
            <a:off x="1828800" y="19110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Concept, Audience, Competition and Design Pillars</a:t>
            </a:r>
            <a:endParaRPr lang="en-US" sz="1400" dirty="0"/>
          </a:p>
        </p:txBody>
      </p:sp>
      <p:sp>
        <p:nvSpPr>
          <p:cNvPr id="9" name="Shape 7"/>
          <p:cNvSpPr/>
          <p:nvPr/>
        </p:nvSpPr>
        <p:spPr>
          <a:xfrm>
            <a:off x="1828800" y="2331720"/>
            <a:ext cx="5120640" cy="0"/>
          </a:xfrm>
          <a:prstGeom prst="line">
            <a:avLst/>
          </a:prstGeom>
          <a:noFill/>
          <a:ln w="9525">
            <a:solidFill>
              <a:srgbClr val="D9DEE7"/>
            </a:solidFill>
            <a:prstDash val="solid"/>
          </a:ln>
        </p:spPr>
        <p:txBody>
          <a:bodyPr/>
          <a:lstStyle/>
          <a:p>
            <a:endParaRPr lang="en-CA"/>
          </a:p>
        </p:txBody>
      </p:sp>
      <p:sp>
        <p:nvSpPr>
          <p:cNvPr id="10" name="Text 8"/>
          <p:cNvSpPr txBox="1"/>
          <p:nvPr/>
        </p:nvSpPr>
        <p:spPr>
          <a:xfrm>
            <a:off x="548640" y="2423160"/>
            <a:ext cx="1097280" cy="731520"/>
          </a:xfrm>
          <a:prstGeom prst="rect">
            <a:avLst/>
          </a:prstGeom>
          <a:noFill/>
          <a:ln/>
        </p:spPr>
        <p:txBody>
          <a:bodyPr wrap="square" lIns="0" tIns="0" rIns="0" bIns="0" rtlCol="0" anchor="ctr"/>
          <a:lstStyle/>
          <a:p>
            <a:pPr marL="0" indent="0">
              <a:buNone/>
            </a:pPr>
            <a:r>
              <a:rPr lang="en-US" sz="3600" b="1" dirty="0">
                <a:solidFill>
                  <a:srgbClr val="C8102E"/>
                </a:solidFill>
                <a:latin typeface="Arial" pitchFamily="34" charset="0"/>
                <a:ea typeface="Arial" pitchFamily="34" charset="-122"/>
                <a:cs typeface="Arial" pitchFamily="34" charset="-120"/>
              </a:rPr>
              <a:t>02</a:t>
            </a:r>
            <a:endParaRPr lang="en-US" sz="3600" dirty="0"/>
          </a:p>
        </p:txBody>
      </p:sp>
      <p:sp>
        <p:nvSpPr>
          <p:cNvPr id="11" name="Text 9"/>
          <p:cNvSpPr txBox="1"/>
          <p:nvPr/>
        </p:nvSpPr>
        <p:spPr>
          <a:xfrm>
            <a:off x="1828800" y="24688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How It Plays</a:t>
            </a:r>
            <a:endParaRPr lang="en-US" sz="2000" dirty="0"/>
          </a:p>
        </p:txBody>
      </p:sp>
      <p:sp>
        <p:nvSpPr>
          <p:cNvPr id="12" name="Text 10"/>
          <p:cNvSpPr txBox="1"/>
          <p:nvPr/>
        </p:nvSpPr>
        <p:spPr>
          <a:xfrm>
            <a:off x="1828800" y="28254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Core Loop, the Skill Stick and Scoring</a:t>
            </a:r>
            <a:endParaRPr lang="en-US" sz="1400" dirty="0"/>
          </a:p>
        </p:txBody>
      </p:sp>
      <p:sp>
        <p:nvSpPr>
          <p:cNvPr id="13" name="Shape 11"/>
          <p:cNvSpPr/>
          <p:nvPr/>
        </p:nvSpPr>
        <p:spPr>
          <a:xfrm>
            <a:off x="1828800" y="3246120"/>
            <a:ext cx="5120640" cy="0"/>
          </a:xfrm>
          <a:prstGeom prst="line">
            <a:avLst/>
          </a:prstGeom>
          <a:noFill/>
          <a:ln w="9525">
            <a:solidFill>
              <a:srgbClr val="D9DEE7"/>
            </a:solidFill>
            <a:prstDash val="solid"/>
          </a:ln>
        </p:spPr>
        <p:txBody>
          <a:bodyPr/>
          <a:lstStyle/>
          <a:p>
            <a:endParaRPr lang="en-CA"/>
          </a:p>
        </p:txBody>
      </p:sp>
      <p:sp>
        <p:nvSpPr>
          <p:cNvPr id="14" name="Text 12"/>
          <p:cNvSpPr txBox="1"/>
          <p:nvPr/>
        </p:nvSpPr>
        <p:spPr>
          <a:xfrm>
            <a:off x="548640" y="3337560"/>
            <a:ext cx="1097280" cy="731520"/>
          </a:xfrm>
          <a:prstGeom prst="rect">
            <a:avLst/>
          </a:prstGeom>
          <a:noFill/>
          <a:ln/>
        </p:spPr>
        <p:txBody>
          <a:bodyPr wrap="square" lIns="0" tIns="0" rIns="0" bIns="0" rtlCol="0" anchor="ctr"/>
          <a:lstStyle/>
          <a:p>
            <a:pPr marL="0" indent="0">
              <a:buNone/>
            </a:pPr>
            <a:r>
              <a:rPr lang="en-US" sz="3600" b="1" dirty="0">
                <a:solidFill>
                  <a:srgbClr val="1F5BC4"/>
                </a:solidFill>
                <a:latin typeface="Arial" pitchFamily="34" charset="0"/>
                <a:ea typeface="Arial" pitchFamily="34" charset="-122"/>
                <a:cs typeface="Arial" pitchFamily="34" charset="-120"/>
              </a:rPr>
              <a:t>03</a:t>
            </a:r>
            <a:endParaRPr lang="en-US" sz="3600" dirty="0"/>
          </a:p>
        </p:txBody>
      </p:sp>
      <p:sp>
        <p:nvSpPr>
          <p:cNvPr id="15" name="Text 13"/>
          <p:cNvSpPr txBox="1"/>
          <p:nvPr/>
        </p:nvSpPr>
        <p:spPr>
          <a:xfrm>
            <a:off x="1828800" y="33832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Modes and Progression</a:t>
            </a:r>
            <a:endParaRPr lang="en-US" sz="2000" dirty="0"/>
          </a:p>
        </p:txBody>
      </p:sp>
      <p:sp>
        <p:nvSpPr>
          <p:cNvPr id="16" name="Text 14"/>
          <p:cNvSpPr txBox="1"/>
          <p:nvPr/>
        </p:nvSpPr>
        <p:spPr>
          <a:xfrm>
            <a:off x="1828800" y="37398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Sparring, Training, Tournament and Career</a:t>
            </a:r>
            <a:endParaRPr lang="en-US" sz="1400" dirty="0"/>
          </a:p>
        </p:txBody>
      </p:sp>
      <p:sp>
        <p:nvSpPr>
          <p:cNvPr id="17" name="Shape 15"/>
          <p:cNvSpPr/>
          <p:nvPr/>
        </p:nvSpPr>
        <p:spPr>
          <a:xfrm>
            <a:off x="1828800" y="4160520"/>
            <a:ext cx="5120640" cy="0"/>
          </a:xfrm>
          <a:prstGeom prst="line">
            <a:avLst/>
          </a:prstGeom>
          <a:noFill/>
          <a:ln w="9525">
            <a:solidFill>
              <a:srgbClr val="D9DEE7"/>
            </a:solidFill>
            <a:prstDash val="solid"/>
          </a:ln>
        </p:spPr>
        <p:txBody>
          <a:bodyPr/>
          <a:lstStyle/>
          <a:p>
            <a:endParaRPr lang="en-CA"/>
          </a:p>
        </p:txBody>
      </p:sp>
      <p:sp>
        <p:nvSpPr>
          <p:cNvPr id="18" name="Text 16"/>
          <p:cNvSpPr txBox="1"/>
          <p:nvPr/>
        </p:nvSpPr>
        <p:spPr>
          <a:xfrm>
            <a:off x="548640" y="4251960"/>
            <a:ext cx="1097280" cy="731520"/>
          </a:xfrm>
          <a:prstGeom prst="rect">
            <a:avLst/>
          </a:prstGeom>
          <a:noFill/>
          <a:ln/>
        </p:spPr>
        <p:txBody>
          <a:bodyPr wrap="square" lIns="0" tIns="0" rIns="0" bIns="0" rtlCol="0" anchor="ctr"/>
          <a:lstStyle/>
          <a:p>
            <a:pPr marL="0" indent="0">
              <a:buNone/>
            </a:pPr>
            <a:r>
              <a:rPr lang="en-US" sz="3600" b="1" dirty="0">
                <a:solidFill>
                  <a:srgbClr val="C8102E"/>
                </a:solidFill>
                <a:latin typeface="Arial" pitchFamily="34" charset="0"/>
                <a:ea typeface="Arial" pitchFamily="34" charset="-122"/>
                <a:cs typeface="Arial" pitchFamily="34" charset="-120"/>
              </a:rPr>
              <a:t>04</a:t>
            </a:r>
            <a:endParaRPr lang="en-US" sz="3600" dirty="0"/>
          </a:p>
        </p:txBody>
      </p:sp>
      <p:sp>
        <p:nvSpPr>
          <p:cNvPr id="19" name="Text 17"/>
          <p:cNvSpPr txBox="1"/>
          <p:nvPr/>
        </p:nvSpPr>
        <p:spPr>
          <a:xfrm>
            <a:off x="1828800" y="42976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Art and Technology</a:t>
            </a:r>
            <a:endParaRPr lang="en-US" sz="2000" dirty="0"/>
          </a:p>
        </p:txBody>
      </p:sp>
      <p:sp>
        <p:nvSpPr>
          <p:cNvPr id="20" name="Text 18"/>
          <p:cNvSpPr txBox="1"/>
          <p:nvPr/>
        </p:nvSpPr>
        <p:spPr>
          <a:xfrm>
            <a:off x="1828800" y="46542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Visual Direction, Unreal Pipeline and Risks</a:t>
            </a:r>
            <a:endParaRPr lang="en-US" sz="1400" dirty="0"/>
          </a:p>
        </p:txBody>
      </p:sp>
      <p:sp>
        <p:nvSpPr>
          <p:cNvPr id="21" name="Shape 19"/>
          <p:cNvSpPr/>
          <p:nvPr/>
        </p:nvSpPr>
        <p:spPr>
          <a:xfrm>
            <a:off x="1828800" y="5074920"/>
            <a:ext cx="5120640" cy="0"/>
          </a:xfrm>
          <a:prstGeom prst="line">
            <a:avLst/>
          </a:prstGeom>
          <a:noFill/>
          <a:ln w="9525">
            <a:solidFill>
              <a:srgbClr val="D9DEE7"/>
            </a:solidFill>
            <a:prstDash val="solid"/>
          </a:ln>
        </p:spPr>
        <p:txBody>
          <a:bodyPr/>
          <a:lstStyle/>
          <a:p>
            <a:endParaRPr lang="en-CA"/>
          </a:p>
        </p:txBody>
      </p:sp>
      <p:sp>
        <p:nvSpPr>
          <p:cNvPr id="22" name="Text 20"/>
          <p:cNvSpPr txBox="1"/>
          <p:nvPr/>
        </p:nvSpPr>
        <p:spPr>
          <a:xfrm>
            <a:off x="548640" y="5166360"/>
            <a:ext cx="1097280" cy="731520"/>
          </a:xfrm>
          <a:prstGeom prst="rect">
            <a:avLst/>
          </a:prstGeom>
          <a:noFill/>
          <a:ln/>
        </p:spPr>
        <p:txBody>
          <a:bodyPr wrap="square" lIns="0" tIns="0" rIns="0" bIns="0" rtlCol="0" anchor="ctr"/>
          <a:lstStyle/>
          <a:p>
            <a:pPr marL="0" indent="0">
              <a:buNone/>
            </a:pPr>
            <a:r>
              <a:rPr lang="en-US" sz="3600" b="1" dirty="0">
                <a:solidFill>
                  <a:srgbClr val="1F5BC4"/>
                </a:solidFill>
                <a:latin typeface="Arial" pitchFamily="34" charset="0"/>
                <a:ea typeface="Arial" pitchFamily="34" charset="-122"/>
                <a:cs typeface="Arial" pitchFamily="34" charset="-120"/>
              </a:rPr>
              <a:t>05</a:t>
            </a:r>
            <a:endParaRPr lang="en-US" sz="3600" dirty="0"/>
          </a:p>
        </p:txBody>
      </p:sp>
      <p:sp>
        <p:nvSpPr>
          <p:cNvPr id="23" name="Text 21"/>
          <p:cNvSpPr txBox="1"/>
          <p:nvPr/>
        </p:nvSpPr>
        <p:spPr>
          <a:xfrm>
            <a:off x="1828800" y="5212080"/>
            <a:ext cx="5486400" cy="365760"/>
          </a:xfrm>
          <a:prstGeom prst="rect">
            <a:avLst/>
          </a:prstGeom>
          <a:noFill/>
          <a:ln/>
        </p:spPr>
        <p:txBody>
          <a:bodyPr wrap="square" lIns="0" tIns="0" rIns="0" bIns="0" rtlCol="0" anchor="t"/>
          <a:lstStyle/>
          <a:p>
            <a:pPr marL="0" indent="0">
              <a:buNone/>
            </a:pPr>
            <a:r>
              <a:rPr lang="en-US" sz="2000" b="1" dirty="0">
                <a:solidFill>
                  <a:srgbClr val="1A202C"/>
                </a:solidFill>
                <a:latin typeface="Arial" pitchFamily="34" charset="0"/>
                <a:ea typeface="Arial" pitchFamily="34" charset="-122"/>
                <a:cs typeface="Arial" pitchFamily="34" charset="-120"/>
              </a:rPr>
              <a:t>The Plan</a:t>
            </a:r>
            <a:endParaRPr lang="en-US" sz="2000" dirty="0"/>
          </a:p>
        </p:txBody>
      </p:sp>
      <p:sp>
        <p:nvSpPr>
          <p:cNvPr id="24" name="Text 22"/>
          <p:cNvSpPr txBox="1"/>
          <p:nvPr/>
        </p:nvSpPr>
        <p:spPr>
          <a:xfrm>
            <a:off x="1828800" y="5568696"/>
            <a:ext cx="5486400" cy="292608"/>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Milestones, Current Status and Open Questions</a:t>
            </a:r>
            <a:endParaRPr lang="en-US" sz="1400" dirty="0"/>
          </a:p>
        </p:txBody>
      </p:sp>
      <p:pic>
        <p:nvPicPr>
          <p:cNvPr id="25" name="Image 0" descr="img/Fighter_Ref.jpg"/>
          <p:cNvPicPr>
            <a:picLocks noChangeAspect="1"/>
          </p:cNvPicPr>
          <p:nvPr/>
        </p:nvPicPr>
        <p:blipFill>
          <a:blip r:embed="rId3"/>
          <a:stretch>
            <a:fillRect/>
          </a:stretch>
        </p:blipFill>
        <p:spPr>
          <a:xfrm>
            <a:off x="7223760" y="2194560"/>
            <a:ext cx="4416552" cy="1840230"/>
          </a:xfrm>
          <a:prstGeom prst="rect">
            <a:avLst/>
          </a:prstGeom>
        </p:spPr>
      </p:pic>
      <p:sp>
        <p:nvSpPr>
          <p:cNvPr id="26" name="Text 23"/>
          <p:cNvSpPr txBox="1"/>
          <p:nvPr/>
        </p:nvSpPr>
        <p:spPr>
          <a:xfrm>
            <a:off x="7223760" y="4114800"/>
            <a:ext cx="4416552" cy="548640"/>
          </a:xfrm>
          <a:prstGeom prst="rect">
            <a:avLst/>
          </a:prstGeom>
          <a:noFill/>
          <a:ln/>
        </p:spPr>
        <p:txBody>
          <a:bodyPr wrap="square" lIns="0" tIns="0" rIns="0" bIns="0" rtlCol="0" anchor="t"/>
          <a:lstStyle/>
          <a:p>
            <a:pPr marL="0" indent="0">
              <a:buNone/>
            </a:pPr>
            <a:r>
              <a:rPr lang="en-US" sz="1100" i="1" dirty="0">
                <a:solidFill>
                  <a:srgbClr val="5B6475"/>
                </a:solidFill>
                <a:latin typeface="Calibri" pitchFamily="34" charset="0"/>
                <a:ea typeface="Calibri" pitchFamily="34" charset="-122"/>
                <a:cs typeface="Calibri" pitchFamily="34" charset="-120"/>
              </a:rPr>
              <a:t>Base Fighter: MetaHuman Body in Dobok with Chung (Blue) Protector, Helmet, Gloves and Foot Guards.</a:t>
            </a:r>
            <a:endParaRPr lang="en-US" sz="1100" dirty="0"/>
          </a:p>
        </p:txBody>
      </p:sp>
      <p:sp>
        <p:nvSpPr>
          <p:cNvPr id="27" name="Text 2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img/FightingRing_Ref.jpg"/>
          <p:cNvPicPr>
            <a:picLocks noChangeAspect="1"/>
          </p:cNvPicPr>
          <p:nvPr/>
        </p:nvPicPr>
        <p:blipFill>
          <a:blip r:embed="rId3"/>
          <a:srcRect/>
          <a:stretch/>
        </p:blipFill>
        <p:spPr>
          <a:xfrm>
            <a:off x="6583680" y="0"/>
            <a:ext cx="5608015" cy="6858000"/>
          </a:xfrm>
          <a:prstGeom prst="rect">
            <a:avLst/>
          </a:prstGeom>
        </p:spPr>
      </p:pic>
      <p:sp>
        <p:nvSpPr>
          <p:cNvPr id="3" name="Shape 0"/>
          <p:cNvSpPr/>
          <p:nvPr/>
        </p:nvSpPr>
        <p:spPr>
          <a:xfrm>
            <a:off x="548640" y="246888"/>
            <a:ext cx="128016" cy="128016"/>
          </a:xfrm>
          <a:prstGeom prst="ellipse">
            <a:avLst/>
          </a:prstGeom>
          <a:solidFill>
            <a:srgbClr val="1F5BC4"/>
          </a:solidFill>
          <a:ln/>
        </p:spPr>
        <p:txBody>
          <a:bodyPr/>
          <a:lstStyle/>
          <a:p>
            <a:endParaRPr lang="en-CA"/>
          </a:p>
        </p:txBody>
      </p:sp>
      <p:sp>
        <p:nvSpPr>
          <p:cNvPr id="4" name="Shape 1"/>
          <p:cNvSpPr/>
          <p:nvPr/>
        </p:nvSpPr>
        <p:spPr>
          <a:xfrm>
            <a:off x="722376" y="246888"/>
            <a:ext cx="128016" cy="128016"/>
          </a:xfrm>
          <a:prstGeom prst="ellipse">
            <a:avLst/>
          </a:prstGeom>
          <a:solidFill>
            <a:srgbClr val="C8102E"/>
          </a:solidFill>
          <a:ln/>
        </p:spPr>
        <p:txBody>
          <a:bodyPr/>
          <a:lstStyle/>
          <a:p>
            <a:endParaRPr lang="en-CA"/>
          </a:p>
        </p:txBody>
      </p:sp>
      <p:sp>
        <p:nvSpPr>
          <p:cNvPr id="5"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6" name="Text 3"/>
          <p:cNvSpPr txBox="1"/>
          <p:nvPr/>
        </p:nvSpPr>
        <p:spPr>
          <a:xfrm>
            <a:off x="548640" y="411480"/>
            <a:ext cx="5669280"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Concept</a:t>
            </a:r>
            <a:endParaRPr lang="en-US" sz="3400" dirty="0"/>
          </a:p>
        </p:txBody>
      </p:sp>
      <p:sp>
        <p:nvSpPr>
          <p:cNvPr id="7" name="Text 4"/>
          <p:cNvSpPr txBox="1"/>
          <p:nvPr/>
        </p:nvSpPr>
        <p:spPr>
          <a:xfrm>
            <a:off x="548640" y="1325880"/>
            <a:ext cx="5577840" cy="1463040"/>
          </a:xfrm>
          <a:prstGeom prst="rect">
            <a:avLst/>
          </a:prstGeom>
          <a:noFill/>
          <a:ln/>
        </p:spPr>
        <p:txBody>
          <a:bodyPr wrap="square" lIns="0" tIns="0" rIns="0" bIns="0" rtlCol="0" anchor="t"/>
          <a:lstStyle/>
          <a:p>
            <a:pPr marL="0" indent="0">
              <a:buNone/>
            </a:pPr>
            <a:r>
              <a:rPr lang="en-US" sz="2000" i="1" dirty="0">
                <a:solidFill>
                  <a:srgbClr val="1F5BC4"/>
                </a:solidFill>
                <a:latin typeface="Calibri" pitchFamily="34" charset="0"/>
                <a:ea typeface="Calibri" pitchFamily="34" charset="-122"/>
                <a:cs typeface="Calibri" pitchFamily="34" charset="-120"/>
              </a:rPr>
              <a:t>“Real Taekwondo Sparring, One on One: Read the Distance, Choose Your Kick with a Flick of the Skill Stick, and Land It Before Your Opponent Does.”</a:t>
            </a:r>
            <a:endParaRPr lang="en-US" sz="2000" dirty="0"/>
          </a:p>
        </p:txBody>
      </p:sp>
      <p:sp>
        <p:nvSpPr>
          <p:cNvPr id="8" name="Text 5"/>
          <p:cNvSpPr txBox="1"/>
          <p:nvPr/>
        </p:nvSpPr>
        <p:spPr>
          <a:xfrm>
            <a:off x="548640" y="2606040"/>
            <a:ext cx="5577840" cy="109728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A 3D One-on-One Sports Fighting Game. It Takes Committed Attacks, Reads, Fakes and Counters from Fighting Games, and a Real World Taekwondo Ruleset from Sports Simulation. No Health Bar, No Combo Strings: Matches Are Won on Points.</a:t>
            </a:r>
            <a:endParaRPr lang="en-US" sz="1400" dirty="0"/>
          </a:p>
        </p:txBody>
      </p:sp>
      <p:sp>
        <p:nvSpPr>
          <p:cNvPr id="9" name="Text 6"/>
          <p:cNvSpPr txBox="1"/>
          <p:nvPr/>
        </p:nvSpPr>
        <p:spPr>
          <a:xfrm>
            <a:off x="548640" y="4206240"/>
            <a:ext cx="2651760" cy="548640"/>
          </a:xfrm>
          <a:prstGeom prst="rect">
            <a:avLst/>
          </a:prstGeom>
          <a:noFill/>
          <a:ln/>
        </p:spPr>
        <p:txBody>
          <a:bodyPr wrap="square" lIns="0" tIns="0" rIns="0" bIns="0" rtlCol="0" anchor="t"/>
          <a:lstStyle/>
          <a:p>
            <a:pPr marL="0" indent="0">
              <a:buNone/>
            </a:pPr>
            <a:r>
              <a:rPr lang="en-US" sz="3000" b="1" dirty="0">
                <a:solidFill>
                  <a:srgbClr val="1F5BC4"/>
                </a:solidFill>
                <a:latin typeface="Arial" pitchFamily="34" charset="0"/>
                <a:ea typeface="Arial" pitchFamily="34" charset="-122"/>
                <a:cs typeface="Arial" pitchFamily="34" charset="-120"/>
              </a:rPr>
              <a:t>5–8 min</a:t>
            </a:r>
            <a:endParaRPr lang="en-US" sz="3000" dirty="0"/>
          </a:p>
        </p:txBody>
      </p:sp>
      <p:sp>
        <p:nvSpPr>
          <p:cNvPr id="10" name="Text 7"/>
          <p:cNvSpPr txBox="1"/>
          <p:nvPr/>
        </p:nvSpPr>
        <p:spPr>
          <a:xfrm>
            <a:off x="548640" y="475488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Per Match</a:t>
            </a:r>
            <a:endParaRPr lang="en-US" sz="1300" dirty="0"/>
          </a:p>
        </p:txBody>
      </p:sp>
      <p:sp>
        <p:nvSpPr>
          <p:cNvPr id="11" name="Text 8"/>
          <p:cNvSpPr txBox="1"/>
          <p:nvPr/>
        </p:nvSpPr>
        <p:spPr>
          <a:xfrm>
            <a:off x="3383280" y="4206240"/>
            <a:ext cx="2651760" cy="548640"/>
          </a:xfrm>
          <a:prstGeom prst="rect">
            <a:avLst/>
          </a:prstGeom>
          <a:noFill/>
          <a:ln/>
        </p:spPr>
        <p:txBody>
          <a:bodyPr wrap="square" lIns="0" tIns="0" rIns="0" bIns="0" rtlCol="0" anchor="t"/>
          <a:lstStyle/>
          <a:p>
            <a:pPr marL="0" indent="0">
              <a:buNone/>
            </a:pPr>
            <a:r>
              <a:rPr lang="en-US" sz="3000" b="1" dirty="0">
                <a:solidFill>
                  <a:srgbClr val="C8102E"/>
                </a:solidFill>
                <a:latin typeface="Arial" pitchFamily="34" charset="0"/>
                <a:ea typeface="Arial" pitchFamily="34" charset="-122"/>
                <a:cs typeface="Arial" pitchFamily="34" charset="-120"/>
              </a:rPr>
              <a:t>1–3 s</a:t>
            </a:r>
            <a:endParaRPr lang="en-US" sz="3000" dirty="0"/>
          </a:p>
        </p:txBody>
      </p:sp>
      <p:sp>
        <p:nvSpPr>
          <p:cNvPr id="12" name="Text 9"/>
          <p:cNvSpPr txBox="1"/>
          <p:nvPr/>
        </p:nvSpPr>
        <p:spPr>
          <a:xfrm>
            <a:off x="3383280" y="475488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Per Exchange</a:t>
            </a:r>
            <a:endParaRPr lang="en-US" sz="1300" dirty="0"/>
          </a:p>
        </p:txBody>
      </p:sp>
      <p:sp>
        <p:nvSpPr>
          <p:cNvPr id="13" name="Text 10"/>
          <p:cNvSpPr txBox="1"/>
          <p:nvPr/>
        </p:nvSpPr>
        <p:spPr>
          <a:xfrm>
            <a:off x="548640" y="5303520"/>
            <a:ext cx="2651760" cy="548640"/>
          </a:xfrm>
          <a:prstGeom prst="rect">
            <a:avLst/>
          </a:prstGeom>
          <a:noFill/>
          <a:ln/>
        </p:spPr>
        <p:txBody>
          <a:bodyPr wrap="square" lIns="0" tIns="0" rIns="0" bIns="0" rtlCol="0" anchor="t"/>
          <a:lstStyle/>
          <a:p>
            <a:pPr marL="0" indent="0">
              <a:buNone/>
            </a:pPr>
            <a:r>
              <a:rPr lang="en-US" sz="3000" b="1" dirty="0">
                <a:solidFill>
                  <a:srgbClr val="1F5BC4"/>
                </a:solidFill>
                <a:latin typeface="Arial" pitchFamily="34" charset="0"/>
                <a:ea typeface="Arial" pitchFamily="34" charset="-122"/>
                <a:cs typeface="Arial" pitchFamily="34" charset="-120"/>
              </a:rPr>
              <a:t>8 m</a:t>
            </a:r>
            <a:endParaRPr lang="en-US" sz="3000" dirty="0"/>
          </a:p>
        </p:txBody>
      </p:sp>
      <p:sp>
        <p:nvSpPr>
          <p:cNvPr id="14" name="Text 11"/>
          <p:cNvSpPr txBox="1"/>
          <p:nvPr/>
        </p:nvSpPr>
        <p:spPr>
          <a:xfrm>
            <a:off x="548640" y="585216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Octagon Mat</a:t>
            </a:r>
            <a:endParaRPr lang="en-US" sz="1300" dirty="0"/>
          </a:p>
        </p:txBody>
      </p:sp>
      <p:sp>
        <p:nvSpPr>
          <p:cNvPr id="15" name="Text 12"/>
          <p:cNvSpPr txBox="1"/>
          <p:nvPr/>
        </p:nvSpPr>
        <p:spPr>
          <a:xfrm>
            <a:off x="3383280" y="5303520"/>
            <a:ext cx="2651760" cy="548640"/>
          </a:xfrm>
          <a:prstGeom prst="rect">
            <a:avLst/>
          </a:prstGeom>
          <a:noFill/>
          <a:ln/>
        </p:spPr>
        <p:txBody>
          <a:bodyPr wrap="square" lIns="0" tIns="0" rIns="0" bIns="0" rtlCol="0" anchor="t"/>
          <a:lstStyle/>
          <a:p>
            <a:pPr marL="0" indent="0">
              <a:buNone/>
            </a:pPr>
            <a:r>
              <a:rPr lang="en-US" sz="3000" b="1" dirty="0">
                <a:solidFill>
                  <a:srgbClr val="C8102E"/>
                </a:solidFill>
                <a:latin typeface="Arial" pitchFamily="34" charset="0"/>
                <a:ea typeface="Arial" pitchFamily="34" charset="-122"/>
                <a:cs typeface="Arial" pitchFamily="34" charset="-120"/>
              </a:rPr>
              <a:t>1–2</a:t>
            </a:r>
            <a:endParaRPr lang="en-US" sz="3000" dirty="0"/>
          </a:p>
        </p:txBody>
      </p:sp>
      <p:sp>
        <p:nvSpPr>
          <p:cNvPr id="16" name="Text 13"/>
          <p:cNvSpPr txBox="1"/>
          <p:nvPr/>
        </p:nvSpPr>
        <p:spPr>
          <a:xfrm>
            <a:off x="3383280" y="5852160"/>
            <a:ext cx="2651760" cy="27432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Players, vs AI or Local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Who It’s For</a:t>
            </a:r>
            <a:endParaRPr lang="en-US" sz="3400" dirty="0"/>
          </a:p>
        </p:txBody>
      </p:sp>
      <p:sp>
        <p:nvSpPr>
          <p:cNvPr id="6" name="Shape 4"/>
          <p:cNvSpPr/>
          <p:nvPr/>
        </p:nvSpPr>
        <p:spPr>
          <a:xfrm>
            <a:off x="548640" y="1463040"/>
            <a:ext cx="3515258" cy="3017520"/>
          </a:xfrm>
          <a:prstGeom prst="roundRect">
            <a:avLst>
              <a:gd name="adj" fmla="val 2424"/>
            </a:avLst>
          </a:prstGeom>
          <a:solidFill>
            <a:srgbClr val="F2F4F8"/>
          </a:solidFill>
          <a:ln/>
        </p:spPr>
        <p:txBody>
          <a:bodyPr/>
          <a:lstStyle/>
          <a:p>
            <a:endParaRPr lang="en-CA"/>
          </a:p>
        </p:txBody>
      </p:sp>
      <p:sp>
        <p:nvSpPr>
          <p:cNvPr id="7" name="Shape 5"/>
          <p:cNvSpPr/>
          <p:nvPr/>
        </p:nvSpPr>
        <p:spPr>
          <a:xfrm>
            <a:off x="868680" y="1783080"/>
            <a:ext cx="548640" cy="548640"/>
          </a:xfrm>
          <a:prstGeom prst="ellipse">
            <a:avLst/>
          </a:prstGeom>
          <a:solidFill>
            <a:srgbClr val="1F5BC4"/>
          </a:solidFill>
          <a:ln/>
        </p:spPr>
        <p:txBody>
          <a:bodyPr/>
          <a:lstStyle/>
          <a:p>
            <a:endParaRPr lang="en-CA"/>
          </a:p>
        </p:txBody>
      </p:sp>
      <p:sp>
        <p:nvSpPr>
          <p:cNvPr id="8" name="Text 6"/>
          <p:cNvSpPr txBox="1"/>
          <p:nvPr/>
        </p:nvSpPr>
        <p:spPr>
          <a:xfrm>
            <a:off x="868680" y="17830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9" name="Text 7"/>
          <p:cNvSpPr txBox="1"/>
          <p:nvPr/>
        </p:nvSpPr>
        <p:spPr>
          <a:xfrm>
            <a:off x="868680" y="2514600"/>
            <a:ext cx="2875178" cy="41148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Fighting-Game Players</a:t>
            </a:r>
            <a:endParaRPr lang="en-US" sz="1800" dirty="0"/>
          </a:p>
        </p:txBody>
      </p:sp>
      <p:sp>
        <p:nvSpPr>
          <p:cNvPr id="10" name="Text 8"/>
          <p:cNvSpPr txBox="1"/>
          <p:nvPr/>
        </p:nvSpPr>
        <p:spPr>
          <a:xfrm>
            <a:off x="868680" y="2944368"/>
            <a:ext cx="2875178" cy="457200"/>
          </a:xfrm>
          <a:prstGeom prst="rect">
            <a:avLst/>
          </a:prstGeom>
          <a:noFill/>
          <a:ln/>
        </p:spPr>
        <p:txBody>
          <a:bodyPr wrap="square" lIns="0" tIns="0" rIns="0" bIns="0" rtlCol="0" anchor="t"/>
          <a:lstStyle/>
          <a:p>
            <a:pPr marL="0" indent="0">
              <a:buNone/>
            </a:pPr>
            <a:r>
              <a:rPr lang="en-US" sz="1200" dirty="0">
                <a:solidFill>
                  <a:srgbClr val="5B6475"/>
                </a:solidFill>
                <a:latin typeface="Calibri" pitchFamily="34" charset="0"/>
                <a:ea typeface="Calibri" pitchFamily="34" charset="-122"/>
                <a:cs typeface="Calibri" pitchFamily="34" charset="-120"/>
              </a:rPr>
              <a:t>Ages 16–35 · Street Fighter 6, Tekken 8</a:t>
            </a:r>
            <a:endParaRPr lang="en-US" sz="1200" dirty="0"/>
          </a:p>
        </p:txBody>
      </p:sp>
      <p:sp>
        <p:nvSpPr>
          <p:cNvPr id="11" name="Text 9"/>
          <p:cNvSpPr txBox="1"/>
          <p:nvPr/>
        </p:nvSpPr>
        <p:spPr>
          <a:xfrm>
            <a:off x="868680" y="3429000"/>
            <a:ext cx="2875178" cy="91440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Depth Through Spacing and Timing, Not Long Combos. A High Skill Ceiling and Local Versus.</a:t>
            </a:r>
            <a:endParaRPr lang="en-US" sz="1400" dirty="0"/>
          </a:p>
        </p:txBody>
      </p:sp>
      <p:sp>
        <p:nvSpPr>
          <p:cNvPr id="12" name="Shape 10"/>
          <p:cNvSpPr/>
          <p:nvPr/>
        </p:nvSpPr>
        <p:spPr>
          <a:xfrm>
            <a:off x="4338218" y="1463040"/>
            <a:ext cx="3515258" cy="3017520"/>
          </a:xfrm>
          <a:prstGeom prst="roundRect">
            <a:avLst>
              <a:gd name="adj" fmla="val 2424"/>
            </a:avLst>
          </a:prstGeom>
          <a:solidFill>
            <a:srgbClr val="F2F4F8"/>
          </a:solidFill>
          <a:ln/>
        </p:spPr>
        <p:txBody>
          <a:bodyPr/>
          <a:lstStyle/>
          <a:p>
            <a:endParaRPr lang="en-CA"/>
          </a:p>
        </p:txBody>
      </p:sp>
      <p:sp>
        <p:nvSpPr>
          <p:cNvPr id="13" name="Shape 11"/>
          <p:cNvSpPr/>
          <p:nvPr/>
        </p:nvSpPr>
        <p:spPr>
          <a:xfrm>
            <a:off x="4658258" y="1783080"/>
            <a:ext cx="548640" cy="548640"/>
          </a:xfrm>
          <a:prstGeom prst="ellipse">
            <a:avLst/>
          </a:prstGeom>
          <a:solidFill>
            <a:srgbClr val="C8102E"/>
          </a:solidFill>
          <a:ln/>
        </p:spPr>
        <p:txBody>
          <a:bodyPr/>
          <a:lstStyle/>
          <a:p>
            <a:endParaRPr lang="en-CA"/>
          </a:p>
        </p:txBody>
      </p:sp>
      <p:sp>
        <p:nvSpPr>
          <p:cNvPr id="14" name="Text 12"/>
          <p:cNvSpPr txBox="1"/>
          <p:nvPr/>
        </p:nvSpPr>
        <p:spPr>
          <a:xfrm>
            <a:off x="4658258" y="17830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5" name="Text 13"/>
          <p:cNvSpPr txBox="1"/>
          <p:nvPr/>
        </p:nvSpPr>
        <p:spPr>
          <a:xfrm>
            <a:off x="4658258" y="2514600"/>
            <a:ext cx="2875178" cy="41148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Combat-Sports Players</a:t>
            </a:r>
            <a:endParaRPr lang="en-US" sz="1800" dirty="0"/>
          </a:p>
        </p:txBody>
      </p:sp>
      <p:sp>
        <p:nvSpPr>
          <p:cNvPr id="16" name="Text 14"/>
          <p:cNvSpPr txBox="1"/>
          <p:nvPr/>
        </p:nvSpPr>
        <p:spPr>
          <a:xfrm>
            <a:off x="4658258" y="2944368"/>
            <a:ext cx="2875178" cy="457200"/>
          </a:xfrm>
          <a:prstGeom prst="rect">
            <a:avLst/>
          </a:prstGeom>
          <a:noFill/>
          <a:ln/>
        </p:spPr>
        <p:txBody>
          <a:bodyPr wrap="square" lIns="0" tIns="0" rIns="0" bIns="0" rtlCol="0" anchor="t"/>
          <a:lstStyle/>
          <a:p>
            <a:pPr marL="0" indent="0">
              <a:buNone/>
            </a:pPr>
            <a:r>
              <a:rPr lang="en-US" sz="1200" dirty="0">
                <a:solidFill>
                  <a:srgbClr val="5B6475"/>
                </a:solidFill>
                <a:latin typeface="Calibri" pitchFamily="34" charset="0"/>
                <a:ea typeface="Calibri" pitchFamily="34" charset="-122"/>
                <a:cs typeface="Calibri" pitchFamily="34" charset="-120"/>
              </a:rPr>
              <a:t>Ages 16–40 · EA Sports UFC 5, Undisputed</a:t>
            </a:r>
            <a:endParaRPr lang="en-US" sz="1200" dirty="0"/>
          </a:p>
        </p:txBody>
      </p:sp>
      <p:sp>
        <p:nvSpPr>
          <p:cNvPr id="17" name="Text 15"/>
          <p:cNvSpPr txBox="1"/>
          <p:nvPr/>
        </p:nvSpPr>
        <p:spPr>
          <a:xfrm>
            <a:off x="4658258" y="3429000"/>
            <a:ext cx="2875178" cy="91440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A Realistic Sport with Simulation Controls and a Career.</a:t>
            </a:r>
            <a:endParaRPr lang="en-US" sz="1400" dirty="0"/>
          </a:p>
        </p:txBody>
      </p:sp>
      <p:sp>
        <p:nvSpPr>
          <p:cNvPr id="18" name="Shape 16"/>
          <p:cNvSpPr/>
          <p:nvPr/>
        </p:nvSpPr>
        <p:spPr>
          <a:xfrm>
            <a:off x="8127797" y="1463040"/>
            <a:ext cx="3515258" cy="3017520"/>
          </a:xfrm>
          <a:prstGeom prst="roundRect">
            <a:avLst>
              <a:gd name="adj" fmla="val 2424"/>
            </a:avLst>
          </a:prstGeom>
          <a:solidFill>
            <a:srgbClr val="F2F4F8"/>
          </a:solidFill>
          <a:ln/>
        </p:spPr>
        <p:txBody>
          <a:bodyPr/>
          <a:lstStyle/>
          <a:p>
            <a:endParaRPr lang="en-CA"/>
          </a:p>
        </p:txBody>
      </p:sp>
      <p:sp>
        <p:nvSpPr>
          <p:cNvPr id="19" name="Shape 17"/>
          <p:cNvSpPr/>
          <p:nvPr/>
        </p:nvSpPr>
        <p:spPr>
          <a:xfrm>
            <a:off x="8447837" y="1783080"/>
            <a:ext cx="548640" cy="548640"/>
          </a:xfrm>
          <a:prstGeom prst="ellipse">
            <a:avLst/>
          </a:prstGeom>
          <a:solidFill>
            <a:srgbClr val="161E2B"/>
          </a:solidFill>
          <a:ln/>
        </p:spPr>
        <p:txBody>
          <a:bodyPr/>
          <a:lstStyle/>
          <a:p>
            <a:endParaRPr lang="en-CA"/>
          </a:p>
        </p:txBody>
      </p:sp>
      <p:sp>
        <p:nvSpPr>
          <p:cNvPr id="20" name="Text 18"/>
          <p:cNvSpPr txBox="1"/>
          <p:nvPr/>
        </p:nvSpPr>
        <p:spPr>
          <a:xfrm>
            <a:off x="8447837" y="1783080"/>
            <a:ext cx="548640" cy="54864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1" name="Text 19"/>
          <p:cNvSpPr txBox="1"/>
          <p:nvPr/>
        </p:nvSpPr>
        <p:spPr>
          <a:xfrm>
            <a:off x="8447837" y="2514600"/>
            <a:ext cx="2875178" cy="41148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Taekwondo Practitioners</a:t>
            </a:r>
            <a:endParaRPr lang="en-US" sz="1800" dirty="0"/>
          </a:p>
        </p:txBody>
      </p:sp>
      <p:sp>
        <p:nvSpPr>
          <p:cNvPr id="22" name="Text 20"/>
          <p:cNvSpPr txBox="1"/>
          <p:nvPr/>
        </p:nvSpPr>
        <p:spPr>
          <a:xfrm>
            <a:off x="8447837" y="2944368"/>
            <a:ext cx="2875178" cy="457200"/>
          </a:xfrm>
          <a:prstGeom prst="rect">
            <a:avLst/>
          </a:prstGeom>
          <a:noFill/>
          <a:ln/>
        </p:spPr>
        <p:txBody>
          <a:bodyPr wrap="square" lIns="0" tIns="0" rIns="0" bIns="0" rtlCol="0" anchor="t"/>
          <a:lstStyle/>
          <a:p>
            <a:pPr marL="0" indent="0">
              <a:buNone/>
            </a:pPr>
            <a:r>
              <a:rPr lang="en-US" sz="1200" dirty="0">
                <a:solidFill>
                  <a:srgbClr val="5B6475"/>
                </a:solidFill>
                <a:latin typeface="Calibri" pitchFamily="34" charset="0"/>
                <a:ea typeface="Calibri" pitchFamily="34" charset="-122"/>
                <a:cs typeface="Calibri" pitchFamily="34" charset="-120"/>
              </a:rPr>
              <a:t>Athletes, Coaches, Club Members · 13+</a:t>
            </a:r>
            <a:endParaRPr lang="en-US" sz="1200" dirty="0"/>
          </a:p>
        </p:txBody>
      </p:sp>
      <p:sp>
        <p:nvSpPr>
          <p:cNvPr id="23" name="Text 21"/>
          <p:cNvSpPr txBox="1"/>
          <p:nvPr/>
        </p:nvSpPr>
        <p:spPr>
          <a:xfrm>
            <a:off x="8447837" y="3429000"/>
            <a:ext cx="2875178" cy="91440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Their Sport Shown Accurately: Real Rules, Techniques and Etiquette.</a:t>
            </a:r>
            <a:endParaRPr lang="en-US" sz="1400" dirty="0"/>
          </a:p>
        </p:txBody>
      </p:sp>
      <p:sp>
        <p:nvSpPr>
          <p:cNvPr id="24" name="Text 22"/>
          <p:cNvSpPr txBox="1"/>
          <p:nvPr/>
        </p:nvSpPr>
        <p:spPr>
          <a:xfrm>
            <a:off x="548640" y="4846320"/>
            <a:ext cx="6400800" cy="365760"/>
          </a:xfrm>
          <a:prstGeom prst="rect">
            <a:avLst/>
          </a:prstGeom>
          <a:noFill/>
          <a:ln/>
        </p:spPr>
        <p:txBody>
          <a:bodyPr wrap="square" lIns="0" tIns="0" rIns="0" bIns="0" rtlCol="0" anchor="t"/>
          <a:lstStyle/>
          <a:p>
            <a:pPr marL="0" indent="0">
              <a:buNone/>
            </a:pPr>
            <a:r>
              <a:rPr lang="en-US" sz="1600" b="1" dirty="0">
                <a:solidFill>
                  <a:srgbClr val="1A202C"/>
                </a:solidFill>
                <a:latin typeface="Calibri" pitchFamily="34" charset="0"/>
                <a:ea typeface="Calibri" pitchFamily="34" charset="-122"/>
                <a:cs typeface="Calibri" pitchFamily="34" charset="-120"/>
              </a:rPr>
              <a:t>Motivations  </a:t>
            </a:r>
            <a:r>
              <a:rPr lang="en-US" sz="1600" dirty="0">
                <a:solidFill>
                  <a:srgbClr val="1A202C"/>
                </a:solidFill>
                <a:latin typeface="Calibri" pitchFamily="34" charset="0"/>
                <a:ea typeface="Calibri" pitchFamily="34" charset="-122"/>
                <a:cs typeface="Calibri" pitchFamily="34" charset="-120"/>
              </a:rPr>
              <a:t>Mastery · Competition · Authenticity</a:t>
            </a:r>
            <a:endParaRPr lang="en-US" sz="1600" dirty="0"/>
          </a:p>
        </p:txBody>
      </p:sp>
      <p:sp>
        <p:nvSpPr>
          <p:cNvPr id="25" name="Text 23"/>
          <p:cNvSpPr txBox="1"/>
          <p:nvPr/>
        </p:nvSpPr>
        <p:spPr>
          <a:xfrm>
            <a:off x="548640" y="5303520"/>
            <a:ext cx="10058400" cy="365760"/>
          </a:xfrm>
          <a:prstGeom prst="rect">
            <a:avLst/>
          </a:prstGeom>
          <a:noFill/>
          <a:ln/>
        </p:spPr>
        <p:txBody>
          <a:bodyPr wrap="square" lIns="0" tIns="0" rIns="0" bIns="0" rtlCol="0" anchor="t"/>
          <a:lstStyle/>
          <a:p>
            <a:pPr marL="0" indent="0">
              <a:buNone/>
            </a:pPr>
            <a:r>
              <a:rPr lang="en-US" sz="1400" b="1" dirty="0">
                <a:solidFill>
                  <a:srgbClr val="1A202C"/>
                </a:solidFill>
                <a:latin typeface="Calibri" pitchFamily="34" charset="0"/>
                <a:ea typeface="Calibri" pitchFamily="34" charset="-122"/>
                <a:cs typeface="Calibri" pitchFamily="34" charset="-120"/>
              </a:rPr>
              <a:t>Rating Target  </a:t>
            </a:r>
            <a:r>
              <a:rPr lang="en-US" sz="1400" dirty="0">
                <a:solidFill>
                  <a:srgbClr val="1A202C"/>
                </a:solidFill>
                <a:latin typeface="Calibri" pitchFamily="34" charset="0"/>
                <a:ea typeface="Calibri" pitchFamily="34" charset="-122"/>
                <a:cs typeface="Calibri" pitchFamily="34" charset="-120"/>
              </a:rPr>
              <a:t>ESRB E10+ (Mild Violence). Full but Sporting Contact: No Blood, No Injuries Shown, No Taunts.</a:t>
            </a:r>
            <a:endParaRPr lang="en-US" sz="1400" dirty="0"/>
          </a:p>
        </p:txBody>
      </p:sp>
      <p:sp>
        <p:nvSpPr>
          <p:cNvPr id="26" name="Text 2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19"/>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AEB6C4"/>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Where It Fits</a:t>
            </a:r>
            <a:endParaRPr lang="en-US" sz="3400" dirty="0"/>
          </a:p>
        </p:txBody>
      </p:sp>
      <p:sp>
        <p:nvSpPr>
          <p:cNvPr id="6" name="Text 4"/>
          <p:cNvSpPr txBox="1"/>
          <p:nvPr/>
        </p:nvSpPr>
        <p:spPr>
          <a:xfrm>
            <a:off x="548640" y="1280160"/>
            <a:ext cx="4754880" cy="14630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No Taekwondo Sparring Game Ships on PlayStation or Xbox.</a:t>
            </a:r>
            <a:endParaRPr lang="en-US" sz="2800" dirty="0"/>
          </a:p>
        </p:txBody>
      </p:sp>
      <p:sp>
        <p:nvSpPr>
          <p:cNvPr id="7" name="Text 5"/>
          <p:cNvSpPr txBox="1"/>
          <p:nvPr/>
        </p:nvSpPr>
        <p:spPr>
          <a:xfrm>
            <a:off x="548640" y="2926080"/>
            <a:ext cx="4572000" cy="1097280"/>
          </a:xfrm>
          <a:prstGeom prst="rect">
            <a:avLst/>
          </a:prstGeom>
          <a:noFill/>
          <a:ln/>
        </p:spPr>
        <p:txBody>
          <a:bodyPr wrap="square" lIns="0" tIns="0" rIns="0" bIns="0" rtlCol="0" anchor="t"/>
          <a:lstStyle/>
          <a:p>
            <a:pPr marL="0" indent="0">
              <a:buNone/>
            </a:pPr>
            <a:r>
              <a:rPr lang="en-US" sz="1500" dirty="0">
                <a:solidFill>
                  <a:srgbClr val="C9D1DE"/>
                </a:solidFill>
                <a:latin typeface="Calibri" pitchFamily="34" charset="0"/>
                <a:ea typeface="Calibri" pitchFamily="34" charset="-122"/>
                <a:cs typeface="Calibri" pitchFamily="34" charset="-120"/>
              </a:rPr>
              <a:t>Open Stance Targets Both, and Adds the Skill Stick: A Readable, Expressive Way for Controller Players to Choose Kicks.</a:t>
            </a:r>
            <a:endParaRPr lang="en-US" sz="1500" dirty="0"/>
          </a:p>
        </p:txBody>
      </p:sp>
      <p:sp>
        <p:nvSpPr>
          <p:cNvPr id="8" name="Shape 6"/>
          <p:cNvSpPr/>
          <p:nvPr/>
        </p:nvSpPr>
        <p:spPr>
          <a:xfrm>
            <a:off x="5852160" y="1325880"/>
            <a:ext cx="5790895" cy="731520"/>
          </a:xfrm>
          <a:prstGeom prst="roundRect">
            <a:avLst>
              <a:gd name="adj" fmla="val 10000"/>
            </a:avLst>
          </a:prstGeom>
          <a:solidFill>
            <a:srgbClr val="161E2B"/>
          </a:solidFill>
          <a:ln/>
        </p:spPr>
        <p:txBody>
          <a:bodyPr/>
          <a:lstStyle/>
          <a:p>
            <a:endParaRPr lang="en-CA"/>
          </a:p>
        </p:txBody>
      </p:sp>
      <p:sp>
        <p:nvSpPr>
          <p:cNvPr id="9" name="Text 7"/>
          <p:cNvSpPr txBox="1"/>
          <p:nvPr/>
        </p:nvSpPr>
        <p:spPr>
          <a:xfrm>
            <a:off x="6080760" y="132588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Taekwondo Grand Prix</a:t>
            </a:r>
            <a:endParaRPr lang="en-US" sz="1400" dirty="0"/>
          </a:p>
        </p:txBody>
      </p:sp>
      <p:sp>
        <p:nvSpPr>
          <p:cNvPr id="10" name="Text 8"/>
          <p:cNvSpPr txBox="1"/>
          <p:nvPr/>
        </p:nvSpPr>
        <p:spPr>
          <a:xfrm>
            <a:off x="8458200" y="132588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PC · 2018</a:t>
            </a:r>
            <a:endParaRPr lang="en-US" sz="1200" dirty="0"/>
          </a:p>
        </p:txBody>
      </p:sp>
      <p:sp>
        <p:nvSpPr>
          <p:cNvPr id="11" name="Text 9"/>
          <p:cNvSpPr txBox="1"/>
          <p:nvPr/>
        </p:nvSpPr>
        <p:spPr>
          <a:xfrm>
            <a:off x="9555480" y="132588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Closest Direct Competitor, PC Only</a:t>
            </a:r>
            <a:endParaRPr lang="en-US" sz="1200" dirty="0"/>
          </a:p>
        </p:txBody>
      </p:sp>
      <p:sp>
        <p:nvSpPr>
          <p:cNvPr id="12" name="Shape 10"/>
          <p:cNvSpPr/>
          <p:nvPr/>
        </p:nvSpPr>
        <p:spPr>
          <a:xfrm>
            <a:off x="5852160" y="2194560"/>
            <a:ext cx="5790895" cy="731520"/>
          </a:xfrm>
          <a:prstGeom prst="roundRect">
            <a:avLst>
              <a:gd name="adj" fmla="val 10000"/>
            </a:avLst>
          </a:prstGeom>
          <a:solidFill>
            <a:srgbClr val="161E2B"/>
          </a:solidFill>
          <a:ln/>
        </p:spPr>
        <p:txBody>
          <a:bodyPr/>
          <a:lstStyle/>
          <a:p>
            <a:endParaRPr lang="en-CA"/>
          </a:p>
        </p:txBody>
      </p:sp>
      <p:sp>
        <p:nvSpPr>
          <p:cNvPr id="13" name="Text 11"/>
          <p:cNvSpPr txBox="1"/>
          <p:nvPr/>
        </p:nvSpPr>
        <p:spPr>
          <a:xfrm>
            <a:off x="6080760" y="219456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Virtual Taekwondo</a:t>
            </a:r>
            <a:endParaRPr lang="en-US" sz="1400" dirty="0"/>
          </a:p>
        </p:txBody>
      </p:sp>
      <p:sp>
        <p:nvSpPr>
          <p:cNvPr id="14" name="Text 12"/>
          <p:cNvSpPr txBox="1"/>
          <p:nvPr/>
        </p:nvSpPr>
        <p:spPr>
          <a:xfrm>
            <a:off x="8458200" y="219456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VR · PICO 4</a:t>
            </a:r>
            <a:endParaRPr lang="en-US" sz="1200" dirty="0"/>
          </a:p>
        </p:txBody>
      </p:sp>
      <p:sp>
        <p:nvSpPr>
          <p:cNvPr id="15" name="Text 13"/>
          <p:cNvSpPr txBox="1"/>
          <p:nvPr/>
        </p:nvSpPr>
        <p:spPr>
          <a:xfrm>
            <a:off x="9555480" y="219456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Needs a Headset and Body Trackers</a:t>
            </a:r>
            <a:endParaRPr lang="en-US" sz="1200" dirty="0"/>
          </a:p>
        </p:txBody>
      </p:sp>
      <p:sp>
        <p:nvSpPr>
          <p:cNvPr id="16" name="Shape 14"/>
          <p:cNvSpPr/>
          <p:nvPr/>
        </p:nvSpPr>
        <p:spPr>
          <a:xfrm>
            <a:off x="5852160" y="3063240"/>
            <a:ext cx="5790895" cy="731520"/>
          </a:xfrm>
          <a:prstGeom prst="roundRect">
            <a:avLst>
              <a:gd name="adj" fmla="val 10000"/>
            </a:avLst>
          </a:prstGeom>
          <a:solidFill>
            <a:srgbClr val="161E2B"/>
          </a:solidFill>
          <a:ln/>
        </p:spPr>
        <p:txBody>
          <a:bodyPr/>
          <a:lstStyle/>
          <a:p>
            <a:endParaRPr lang="en-CA"/>
          </a:p>
        </p:txBody>
      </p:sp>
      <p:sp>
        <p:nvSpPr>
          <p:cNvPr id="17" name="Text 15"/>
          <p:cNvSpPr txBox="1"/>
          <p:nvPr/>
        </p:nvSpPr>
        <p:spPr>
          <a:xfrm>
            <a:off x="6080760" y="306324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Tekken 8 · Street Fighter 6</a:t>
            </a:r>
            <a:endParaRPr lang="en-US" sz="1400" dirty="0"/>
          </a:p>
        </p:txBody>
      </p:sp>
      <p:sp>
        <p:nvSpPr>
          <p:cNvPr id="18" name="Text 16"/>
          <p:cNvSpPr txBox="1"/>
          <p:nvPr/>
        </p:nvSpPr>
        <p:spPr>
          <a:xfrm>
            <a:off x="8458200" y="306324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2023–2024</a:t>
            </a:r>
            <a:endParaRPr lang="en-US" sz="1200" dirty="0"/>
          </a:p>
        </p:txBody>
      </p:sp>
      <p:sp>
        <p:nvSpPr>
          <p:cNvPr id="19" name="Text 17"/>
          <p:cNvSpPr txBox="1"/>
          <p:nvPr/>
        </p:nvSpPr>
        <p:spPr>
          <a:xfrm>
            <a:off x="9555480" y="306324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Taekwondo Characters, but Health Bars and Combos</a:t>
            </a:r>
            <a:endParaRPr lang="en-US" sz="1200" dirty="0"/>
          </a:p>
        </p:txBody>
      </p:sp>
      <p:sp>
        <p:nvSpPr>
          <p:cNvPr id="20" name="Shape 18"/>
          <p:cNvSpPr/>
          <p:nvPr/>
        </p:nvSpPr>
        <p:spPr>
          <a:xfrm>
            <a:off x="5852160" y="3931920"/>
            <a:ext cx="5790895" cy="731520"/>
          </a:xfrm>
          <a:prstGeom prst="roundRect">
            <a:avLst>
              <a:gd name="adj" fmla="val 10000"/>
            </a:avLst>
          </a:prstGeom>
          <a:solidFill>
            <a:srgbClr val="161E2B"/>
          </a:solidFill>
          <a:ln/>
        </p:spPr>
        <p:txBody>
          <a:bodyPr/>
          <a:lstStyle/>
          <a:p>
            <a:endParaRPr lang="en-CA"/>
          </a:p>
        </p:txBody>
      </p:sp>
      <p:sp>
        <p:nvSpPr>
          <p:cNvPr id="21" name="Text 19"/>
          <p:cNvSpPr txBox="1"/>
          <p:nvPr/>
        </p:nvSpPr>
        <p:spPr>
          <a:xfrm>
            <a:off x="6080760" y="393192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EA Sports UFC 5 · Undisputed</a:t>
            </a:r>
            <a:endParaRPr lang="en-US" sz="1400" dirty="0"/>
          </a:p>
        </p:txBody>
      </p:sp>
      <p:sp>
        <p:nvSpPr>
          <p:cNvPr id="22" name="Text 20"/>
          <p:cNvSpPr txBox="1"/>
          <p:nvPr/>
        </p:nvSpPr>
        <p:spPr>
          <a:xfrm>
            <a:off x="8458200" y="393192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2023–2024</a:t>
            </a:r>
            <a:endParaRPr lang="en-US" sz="1200" dirty="0"/>
          </a:p>
        </p:txBody>
      </p:sp>
      <p:sp>
        <p:nvSpPr>
          <p:cNvPr id="23" name="Text 21"/>
          <p:cNvSpPr txBox="1"/>
          <p:nvPr/>
        </p:nvSpPr>
        <p:spPr>
          <a:xfrm>
            <a:off x="9555480" y="393192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Simulation Approach, but No Kicking Sport</a:t>
            </a:r>
            <a:endParaRPr lang="en-US" sz="1200" dirty="0"/>
          </a:p>
        </p:txBody>
      </p:sp>
      <p:sp>
        <p:nvSpPr>
          <p:cNvPr id="24" name="Shape 22"/>
          <p:cNvSpPr/>
          <p:nvPr/>
        </p:nvSpPr>
        <p:spPr>
          <a:xfrm>
            <a:off x="5852160" y="4800600"/>
            <a:ext cx="5790895" cy="731520"/>
          </a:xfrm>
          <a:prstGeom prst="roundRect">
            <a:avLst>
              <a:gd name="adj" fmla="val 10000"/>
            </a:avLst>
          </a:prstGeom>
          <a:solidFill>
            <a:srgbClr val="161E2B"/>
          </a:solidFill>
          <a:ln/>
        </p:spPr>
        <p:txBody>
          <a:bodyPr/>
          <a:lstStyle/>
          <a:p>
            <a:endParaRPr lang="en-CA"/>
          </a:p>
        </p:txBody>
      </p:sp>
      <p:sp>
        <p:nvSpPr>
          <p:cNvPr id="25" name="Text 23"/>
          <p:cNvSpPr txBox="1"/>
          <p:nvPr/>
        </p:nvSpPr>
        <p:spPr>
          <a:xfrm>
            <a:off x="6080760" y="4800600"/>
            <a:ext cx="2377440" cy="7315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Fight Night Champion</a:t>
            </a:r>
            <a:endParaRPr lang="en-US" sz="1400" dirty="0"/>
          </a:p>
        </p:txBody>
      </p:sp>
      <p:sp>
        <p:nvSpPr>
          <p:cNvPr id="26" name="Text 24"/>
          <p:cNvSpPr txBox="1"/>
          <p:nvPr/>
        </p:nvSpPr>
        <p:spPr>
          <a:xfrm>
            <a:off x="8458200" y="4800600"/>
            <a:ext cx="1097280" cy="731520"/>
          </a:xfrm>
          <a:prstGeom prst="rect">
            <a:avLst/>
          </a:prstGeom>
          <a:noFill/>
          <a:ln/>
        </p:spPr>
        <p:txBody>
          <a:bodyPr wrap="square" lIns="0" tIns="0" rIns="0" bIns="0" rtlCol="0" anchor="ctr"/>
          <a:lstStyle/>
          <a:p>
            <a:pPr marL="0" indent="0">
              <a:buNone/>
            </a:pPr>
            <a:r>
              <a:rPr lang="en-US" sz="1200" dirty="0">
                <a:solidFill>
                  <a:srgbClr val="8FA0B8"/>
                </a:solidFill>
                <a:latin typeface="Calibri" pitchFamily="34" charset="0"/>
                <a:ea typeface="Calibri" pitchFamily="34" charset="-122"/>
                <a:cs typeface="Calibri" pitchFamily="34" charset="-120"/>
              </a:rPr>
              <a:t>2011</a:t>
            </a:r>
            <a:endParaRPr lang="en-US" sz="1200" dirty="0"/>
          </a:p>
        </p:txBody>
      </p:sp>
      <p:sp>
        <p:nvSpPr>
          <p:cNvPr id="27" name="Text 25"/>
          <p:cNvSpPr txBox="1"/>
          <p:nvPr/>
        </p:nvSpPr>
        <p:spPr>
          <a:xfrm>
            <a:off x="9555480" y="4800600"/>
            <a:ext cx="1874520" cy="731520"/>
          </a:xfrm>
          <a:prstGeom prst="rect">
            <a:avLst/>
          </a:prstGeom>
          <a:noFill/>
          <a:ln/>
        </p:spPr>
        <p:txBody>
          <a:bodyPr wrap="square" lIns="0" tIns="0" rIns="0" bIns="0" rtlCol="0" anchor="ctr"/>
          <a:lstStyle/>
          <a:p>
            <a:pPr marL="0" indent="0">
              <a:buNone/>
            </a:pPr>
            <a:r>
              <a:rPr lang="en-US" sz="1200" dirty="0">
                <a:solidFill>
                  <a:srgbClr val="C9D1DE"/>
                </a:solidFill>
                <a:latin typeface="Calibri" pitchFamily="34" charset="0"/>
                <a:ea typeface="Calibri" pitchFamily="34" charset="-122"/>
                <a:cs typeface="Calibri" pitchFamily="34" charset="-120"/>
              </a:rPr>
              <a:t>Precedent for Choosing Strikes with a Stick Gesture</a:t>
            </a:r>
            <a:endParaRPr lang="en-US" sz="1200" dirty="0"/>
          </a:p>
        </p:txBody>
      </p:sp>
      <p:sp>
        <p:nvSpPr>
          <p:cNvPr id="28" name="Text 26"/>
          <p:cNvSpPr txBox="1"/>
          <p:nvPr/>
        </p:nvSpPr>
        <p:spPr>
          <a:xfrm>
            <a:off x="5852160" y="5760720"/>
            <a:ext cx="5790895" cy="274320"/>
          </a:xfrm>
          <a:prstGeom prst="rect">
            <a:avLst/>
          </a:prstGeom>
          <a:noFill/>
          <a:ln/>
        </p:spPr>
        <p:txBody>
          <a:bodyPr wrap="square" lIns="0" tIns="0" rIns="0" bIns="0" rtlCol="0" anchor="t"/>
          <a:lstStyle/>
          <a:p>
            <a:pPr marL="0" indent="0">
              <a:buNone/>
            </a:pPr>
            <a:r>
              <a:rPr lang="en-US" sz="1000" dirty="0">
                <a:solidFill>
                  <a:srgbClr val="7C889C"/>
                </a:solidFill>
                <a:latin typeface="Calibri" pitchFamily="34" charset="0"/>
                <a:ea typeface="Calibri" pitchFamily="34" charset="-122"/>
                <a:cs typeface="Calibri" pitchFamily="34" charset="-120"/>
              </a:rPr>
              <a:t>Sources: Steam, Metacritic, virtualtkd.gg, Bandai Namco, Capcom IR, EA. Checked 2026-09-14.</a:t>
            </a:r>
            <a:endParaRPr lang="en-US" sz="1000" dirty="0"/>
          </a:p>
        </p:txBody>
      </p:sp>
      <p:sp>
        <p:nvSpPr>
          <p:cNvPr id="29" name="Text 27"/>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8792A5"/>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What Makes It Different</a:t>
            </a:r>
            <a:endParaRPr lang="en-US" sz="3400" dirty="0"/>
          </a:p>
        </p:txBody>
      </p:sp>
      <p:sp>
        <p:nvSpPr>
          <p:cNvPr id="6" name="Shape 4"/>
          <p:cNvSpPr/>
          <p:nvPr/>
        </p:nvSpPr>
        <p:spPr>
          <a:xfrm>
            <a:off x="548640" y="1417320"/>
            <a:ext cx="3515258" cy="2011680"/>
          </a:xfrm>
          <a:prstGeom prst="roundRect">
            <a:avLst>
              <a:gd name="adj" fmla="val 3636"/>
            </a:avLst>
          </a:prstGeom>
          <a:solidFill>
            <a:srgbClr val="F2F4F8"/>
          </a:solidFill>
          <a:ln/>
        </p:spPr>
        <p:txBody>
          <a:bodyPr/>
          <a:lstStyle/>
          <a:p>
            <a:endParaRPr lang="en-CA"/>
          </a:p>
        </p:txBody>
      </p:sp>
      <p:sp>
        <p:nvSpPr>
          <p:cNvPr id="7" name="Text 5"/>
          <p:cNvSpPr txBox="1"/>
          <p:nvPr/>
        </p:nvSpPr>
        <p:spPr>
          <a:xfrm>
            <a:off x="822960" y="1645920"/>
            <a:ext cx="914400" cy="411480"/>
          </a:xfrm>
          <a:prstGeom prst="rect">
            <a:avLst/>
          </a:prstGeom>
          <a:noFill/>
          <a:ln/>
        </p:spPr>
        <p:txBody>
          <a:bodyPr wrap="square" lIns="0" tIns="0" rIns="0" bIns="0" rtlCol="0" anchor="t"/>
          <a:lstStyle/>
          <a:p>
            <a:pPr marL="0" indent="0">
              <a:buNone/>
            </a:pPr>
            <a:r>
              <a:rPr lang="en-US" sz="2200" b="1" dirty="0">
                <a:solidFill>
                  <a:srgbClr val="1F5BC4"/>
                </a:solidFill>
                <a:latin typeface="Arial" pitchFamily="34" charset="0"/>
                <a:ea typeface="Arial" pitchFamily="34" charset="-122"/>
                <a:cs typeface="Arial" pitchFamily="34" charset="-120"/>
              </a:rPr>
              <a:t>01</a:t>
            </a:r>
            <a:endParaRPr lang="en-US" sz="2200" dirty="0"/>
          </a:p>
        </p:txBody>
      </p:sp>
      <p:sp>
        <p:nvSpPr>
          <p:cNvPr id="8" name="Text 6"/>
          <p:cNvSpPr txBox="1"/>
          <p:nvPr/>
        </p:nvSpPr>
        <p:spPr>
          <a:xfrm>
            <a:off x="822960" y="2103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The Skill Stick</a:t>
            </a:r>
            <a:endParaRPr lang="en-US" sz="1700" dirty="0"/>
          </a:p>
        </p:txBody>
      </p:sp>
      <p:sp>
        <p:nvSpPr>
          <p:cNvPr id="9" name="Text 7"/>
          <p:cNvSpPr txBox="1"/>
          <p:nvPr/>
        </p:nvSpPr>
        <p:spPr>
          <a:xfrm>
            <a:off x="822960" y="2514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Kicks Are Right-Stick Gestures. Two Held Modifiers Pick the Leg (RT) and the Target (RB).</a:t>
            </a:r>
            <a:endParaRPr lang="en-US" sz="1300" dirty="0"/>
          </a:p>
        </p:txBody>
      </p:sp>
      <p:sp>
        <p:nvSpPr>
          <p:cNvPr id="10" name="Shape 8"/>
          <p:cNvSpPr/>
          <p:nvPr/>
        </p:nvSpPr>
        <p:spPr>
          <a:xfrm>
            <a:off x="4338218" y="1417320"/>
            <a:ext cx="3515258" cy="2011680"/>
          </a:xfrm>
          <a:prstGeom prst="roundRect">
            <a:avLst>
              <a:gd name="adj" fmla="val 3636"/>
            </a:avLst>
          </a:prstGeom>
          <a:solidFill>
            <a:srgbClr val="F2F4F8"/>
          </a:solidFill>
          <a:ln/>
        </p:spPr>
        <p:txBody>
          <a:bodyPr/>
          <a:lstStyle/>
          <a:p>
            <a:endParaRPr lang="en-CA"/>
          </a:p>
        </p:txBody>
      </p:sp>
      <p:sp>
        <p:nvSpPr>
          <p:cNvPr id="11" name="Text 9"/>
          <p:cNvSpPr txBox="1"/>
          <p:nvPr/>
        </p:nvSpPr>
        <p:spPr>
          <a:xfrm>
            <a:off x="4612538" y="1645920"/>
            <a:ext cx="914400" cy="411480"/>
          </a:xfrm>
          <a:prstGeom prst="rect">
            <a:avLst/>
          </a:prstGeom>
          <a:noFill/>
          <a:ln/>
        </p:spPr>
        <p:txBody>
          <a:bodyPr wrap="square" lIns="0" tIns="0" rIns="0" bIns="0" rtlCol="0" anchor="t"/>
          <a:lstStyle/>
          <a:p>
            <a:pPr marL="0" indent="0">
              <a:buNone/>
            </a:pPr>
            <a:r>
              <a:rPr lang="en-US" sz="2200" b="1" dirty="0">
                <a:solidFill>
                  <a:srgbClr val="C8102E"/>
                </a:solidFill>
                <a:latin typeface="Arial" pitchFamily="34" charset="0"/>
                <a:ea typeface="Arial" pitchFamily="34" charset="-122"/>
                <a:cs typeface="Arial" pitchFamily="34" charset="-120"/>
              </a:rPr>
              <a:t>02</a:t>
            </a:r>
            <a:endParaRPr lang="en-US" sz="2200" dirty="0"/>
          </a:p>
        </p:txBody>
      </p:sp>
      <p:sp>
        <p:nvSpPr>
          <p:cNvPr id="12" name="Text 10"/>
          <p:cNvSpPr txBox="1"/>
          <p:nvPr/>
        </p:nvSpPr>
        <p:spPr>
          <a:xfrm>
            <a:off x="4612538" y="2103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Real Sparring, Real Scoring</a:t>
            </a:r>
            <a:endParaRPr lang="en-US" sz="1700" dirty="0"/>
          </a:p>
        </p:txBody>
      </p:sp>
      <p:sp>
        <p:nvSpPr>
          <p:cNvPr id="13" name="Text 11"/>
          <p:cNvSpPr txBox="1"/>
          <p:nvPr/>
        </p:nvSpPr>
        <p:spPr>
          <a:xfrm>
            <a:off x="4612538" y="2514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World Taekwondo Rules: 2-Minute Rounds, Electronic Protector Scoring, 1–6 Point Techniques, Gam-Jeom Penalties.</a:t>
            </a:r>
            <a:endParaRPr lang="en-US" sz="1300" dirty="0"/>
          </a:p>
        </p:txBody>
      </p:sp>
      <p:sp>
        <p:nvSpPr>
          <p:cNvPr id="14" name="Shape 12"/>
          <p:cNvSpPr/>
          <p:nvPr/>
        </p:nvSpPr>
        <p:spPr>
          <a:xfrm>
            <a:off x="8127797" y="1417320"/>
            <a:ext cx="3515258" cy="2011680"/>
          </a:xfrm>
          <a:prstGeom prst="roundRect">
            <a:avLst>
              <a:gd name="adj" fmla="val 3636"/>
            </a:avLst>
          </a:prstGeom>
          <a:solidFill>
            <a:srgbClr val="F2F4F8"/>
          </a:solidFill>
          <a:ln/>
        </p:spPr>
        <p:txBody>
          <a:bodyPr/>
          <a:lstStyle/>
          <a:p>
            <a:endParaRPr lang="en-CA"/>
          </a:p>
        </p:txBody>
      </p:sp>
      <p:sp>
        <p:nvSpPr>
          <p:cNvPr id="15" name="Text 13"/>
          <p:cNvSpPr txBox="1"/>
          <p:nvPr/>
        </p:nvSpPr>
        <p:spPr>
          <a:xfrm>
            <a:off x="8402117" y="1645920"/>
            <a:ext cx="914400" cy="411480"/>
          </a:xfrm>
          <a:prstGeom prst="rect">
            <a:avLst/>
          </a:prstGeom>
          <a:noFill/>
          <a:ln/>
        </p:spPr>
        <p:txBody>
          <a:bodyPr wrap="square" lIns="0" tIns="0" rIns="0" bIns="0" rtlCol="0" anchor="t"/>
          <a:lstStyle/>
          <a:p>
            <a:pPr marL="0" indent="0">
              <a:buNone/>
            </a:pPr>
            <a:r>
              <a:rPr lang="en-US" sz="2200" b="1" dirty="0">
                <a:solidFill>
                  <a:srgbClr val="1F5BC4"/>
                </a:solidFill>
                <a:latin typeface="Arial" pitchFamily="34" charset="0"/>
                <a:ea typeface="Arial" pitchFamily="34" charset="-122"/>
                <a:cs typeface="Arial" pitchFamily="34" charset="-120"/>
              </a:rPr>
              <a:t>03</a:t>
            </a:r>
            <a:endParaRPr lang="en-US" sz="2200" dirty="0"/>
          </a:p>
        </p:txBody>
      </p:sp>
      <p:sp>
        <p:nvSpPr>
          <p:cNvPr id="16" name="Text 14"/>
          <p:cNvSpPr txBox="1"/>
          <p:nvPr/>
        </p:nvSpPr>
        <p:spPr>
          <a:xfrm>
            <a:off x="8402117" y="2103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Distance and Commitment</a:t>
            </a:r>
            <a:endParaRPr lang="en-US" sz="1700" dirty="0"/>
          </a:p>
        </p:txBody>
      </p:sp>
      <p:sp>
        <p:nvSpPr>
          <p:cNvPr id="17" name="Text 15"/>
          <p:cNvSpPr txBox="1"/>
          <p:nvPr/>
        </p:nvSpPr>
        <p:spPr>
          <a:xfrm>
            <a:off x="8402117" y="2514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Attacks Never Home in from Out of Range, and Every Technique Can Be Punished on Recovery.</a:t>
            </a:r>
            <a:endParaRPr lang="en-US" sz="1300" dirty="0"/>
          </a:p>
        </p:txBody>
      </p:sp>
      <p:sp>
        <p:nvSpPr>
          <p:cNvPr id="18" name="Shape 16"/>
          <p:cNvSpPr/>
          <p:nvPr/>
        </p:nvSpPr>
        <p:spPr>
          <a:xfrm>
            <a:off x="548640" y="3703320"/>
            <a:ext cx="3515258" cy="2011680"/>
          </a:xfrm>
          <a:prstGeom prst="roundRect">
            <a:avLst>
              <a:gd name="adj" fmla="val 3636"/>
            </a:avLst>
          </a:prstGeom>
          <a:solidFill>
            <a:srgbClr val="F2F4F8"/>
          </a:solidFill>
          <a:ln/>
        </p:spPr>
        <p:txBody>
          <a:bodyPr/>
          <a:lstStyle/>
          <a:p>
            <a:endParaRPr lang="en-CA"/>
          </a:p>
        </p:txBody>
      </p:sp>
      <p:sp>
        <p:nvSpPr>
          <p:cNvPr id="19" name="Text 17"/>
          <p:cNvSpPr txBox="1"/>
          <p:nvPr/>
        </p:nvSpPr>
        <p:spPr>
          <a:xfrm>
            <a:off x="822960" y="3931920"/>
            <a:ext cx="914400" cy="411480"/>
          </a:xfrm>
          <a:prstGeom prst="rect">
            <a:avLst/>
          </a:prstGeom>
          <a:noFill/>
          <a:ln/>
        </p:spPr>
        <p:txBody>
          <a:bodyPr wrap="square" lIns="0" tIns="0" rIns="0" bIns="0" rtlCol="0" anchor="t"/>
          <a:lstStyle/>
          <a:p>
            <a:pPr marL="0" indent="0">
              <a:buNone/>
            </a:pPr>
            <a:r>
              <a:rPr lang="en-US" sz="2200" b="1" dirty="0">
                <a:solidFill>
                  <a:srgbClr val="C8102E"/>
                </a:solidFill>
                <a:latin typeface="Arial" pitchFamily="34" charset="0"/>
                <a:ea typeface="Arial" pitchFamily="34" charset="-122"/>
                <a:cs typeface="Arial" pitchFamily="34" charset="-120"/>
              </a:rPr>
              <a:t>04</a:t>
            </a:r>
            <a:endParaRPr lang="en-US" sz="2200" dirty="0"/>
          </a:p>
        </p:txBody>
      </p:sp>
      <p:sp>
        <p:nvSpPr>
          <p:cNvPr id="20" name="Text 18"/>
          <p:cNvSpPr txBox="1"/>
          <p:nvPr/>
        </p:nvSpPr>
        <p:spPr>
          <a:xfrm>
            <a:off x="822960" y="4389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Captured from Practitioners</a:t>
            </a:r>
            <a:endParaRPr lang="en-US" sz="1700" dirty="0"/>
          </a:p>
        </p:txBody>
      </p:sp>
      <p:sp>
        <p:nvSpPr>
          <p:cNvPr id="21" name="Text 19"/>
          <p:cNvSpPr txBox="1"/>
          <p:nvPr/>
        </p:nvSpPr>
        <p:spPr>
          <a:xfrm>
            <a:off x="822960" y="4800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Techniques, Stance Switches, Reactions and Falls Are Motion Captured from Taekwondo Athletes.</a:t>
            </a:r>
            <a:endParaRPr lang="en-US" sz="1300" dirty="0"/>
          </a:p>
        </p:txBody>
      </p:sp>
      <p:sp>
        <p:nvSpPr>
          <p:cNvPr id="22" name="Shape 20"/>
          <p:cNvSpPr/>
          <p:nvPr/>
        </p:nvSpPr>
        <p:spPr>
          <a:xfrm>
            <a:off x="4338218" y="3703320"/>
            <a:ext cx="3515258" cy="2011680"/>
          </a:xfrm>
          <a:prstGeom prst="roundRect">
            <a:avLst>
              <a:gd name="adj" fmla="val 3636"/>
            </a:avLst>
          </a:prstGeom>
          <a:solidFill>
            <a:srgbClr val="F2F4F8"/>
          </a:solidFill>
          <a:ln/>
        </p:spPr>
        <p:txBody>
          <a:bodyPr/>
          <a:lstStyle/>
          <a:p>
            <a:endParaRPr lang="en-CA"/>
          </a:p>
        </p:txBody>
      </p:sp>
      <p:sp>
        <p:nvSpPr>
          <p:cNvPr id="23" name="Text 21"/>
          <p:cNvSpPr txBox="1"/>
          <p:nvPr/>
        </p:nvSpPr>
        <p:spPr>
          <a:xfrm>
            <a:off x="4612538" y="3931920"/>
            <a:ext cx="914400" cy="411480"/>
          </a:xfrm>
          <a:prstGeom prst="rect">
            <a:avLst/>
          </a:prstGeom>
          <a:noFill/>
          <a:ln/>
        </p:spPr>
        <p:txBody>
          <a:bodyPr wrap="square" lIns="0" tIns="0" rIns="0" bIns="0" rtlCol="0" anchor="t"/>
          <a:lstStyle/>
          <a:p>
            <a:pPr marL="0" indent="0">
              <a:buNone/>
            </a:pPr>
            <a:r>
              <a:rPr lang="en-US" sz="2200" b="1" dirty="0">
                <a:solidFill>
                  <a:srgbClr val="1F5BC4"/>
                </a:solidFill>
                <a:latin typeface="Arial" pitchFamily="34" charset="0"/>
                <a:ea typeface="Arial" pitchFamily="34" charset="-122"/>
                <a:cs typeface="Arial" pitchFamily="34" charset="-120"/>
              </a:rPr>
              <a:t>05</a:t>
            </a:r>
            <a:endParaRPr lang="en-US" sz="2200" dirty="0"/>
          </a:p>
        </p:txBody>
      </p:sp>
      <p:sp>
        <p:nvSpPr>
          <p:cNvPr id="24" name="Text 22"/>
          <p:cNvSpPr txBox="1"/>
          <p:nvPr/>
        </p:nvSpPr>
        <p:spPr>
          <a:xfrm>
            <a:off x="4612538" y="4389120"/>
            <a:ext cx="2966618" cy="365760"/>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Respect for the Sport</a:t>
            </a:r>
            <a:endParaRPr lang="en-US" sz="1700" dirty="0"/>
          </a:p>
        </p:txBody>
      </p:sp>
      <p:sp>
        <p:nvSpPr>
          <p:cNvPr id="25" name="Text 23"/>
          <p:cNvSpPr txBox="1"/>
          <p:nvPr/>
        </p:nvSpPr>
        <p:spPr>
          <a:xfrm>
            <a:off x="4612538" y="4800600"/>
            <a:ext cx="2966618" cy="82296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Real Ranks, Competition Colours and Etiquette. Nothing That Affects a Match Is Ever Sold.</a:t>
            </a:r>
            <a:endParaRPr lang="en-US" sz="1300" dirty="0"/>
          </a:p>
        </p:txBody>
      </p:sp>
      <p:pic>
        <p:nvPicPr>
          <p:cNvPr id="26" name="Image 0" descr="img/TrainingDojang_Ref.jpg"/>
          <p:cNvPicPr>
            <a:picLocks noChangeAspect="1"/>
          </p:cNvPicPr>
          <p:nvPr/>
        </p:nvPicPr>
        <p:blipFill>
          <a:blip r:embed="rId3"/>
          <a:srcRect/>
          <a:stretch/>
        </p:blipFill>
        <p:spPr>
          <a:xfrm>
            <a:off x="8127797" y="3703320"/>
            <a:ext cx="3515258" cy="2011680"/>
          </a:xfrm>
          <a:prstGeom prst="rect">
            <a:avLst/>
          </a:prstGeom>
        </p:spPr>
      </p:pic>
      <p:sp>
        <p:nvSpPr>
          <p:cNvPr id="27" name="Text 2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01 · THE GAME</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Design Pillars</a:t>
            </a:r>
            <a:endParaRPr lang="en-US" sz="3400" dirty="0"/>
          </a:p>
        </p:txBody>
      </p:sp>
      <p:sp>
        <p:nvSpPr>
          <p:cNvPr id="6" name="Shape 4"/>
          <p:cNvSpPr/>
          <p:nvPr/>
        </p:nvSpPr>
        <p:spPr>
          <a:xfrm>
            <a:off x="548640" y="1417320"/>
            <a:ext cx="3515258" cy="2011680"/>
          </a:xfrm>
          <a:prstGeom prst="roundRect">
            <a:avLst>
              <a:gd name="adj" fmla="val 3636"/>
            </a:avLst>
          </a:prstGeom>
          <a:solidFill>
            <a:srgbClr val="F2F4F8"/>
          </a:solidFill>
          <a:ln/>
        </p:spPr>
        <p:txBody>
          <a:bodyPr/>
          <a:lstStyle/>
          <a:p>
            <a:endParaRPr lang="en-CA"/>
          </a:p>
        </p:txBody>
      </p:sp>
      <p:sp>
        <p:nvSpPr>
          <p:cNvPr id="7" name="Shape 5"/>
          <p:cNvSpPr/>
          <p:nvPr/>
        </p:nvSpPr>
        <p:spPr>
          <a:xfrm>
            <a:off x="822960" y="1737360"/>
            <a:ext cx="201168" cy="201168"/>
          </a:xfrm>
          <a:prstGeom prst="ellipse">
            <a:avLst/>
          </a:prstGeom>
          <a:solidFill>
            <a:srgbClr val="1F5BC4"/>
          </a:solidFill>
          <a:ln/>
        </p:spPr>
        <p:txBody>
          <a:bodyPr/>
          <a:lstStyle/>
          <a:p>
            <a:endParaRPr lang="en-CA"/>
          </a:p>
        </p:txBody>
      </p:sp>
      <p:sp>
        <p:nvSpPr>
          <p:cNvPr id="8" name="Text 6"/>
          <p:cNvSpPr txBox="1"/>
          <p:nvPr/>
        </p:nvSpPr>
        <p:spPr>
          <a:xfrm>
            <a:off x="1188720" y="1636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Taekwondo First</a:t>
            </a:r>
            <a:endParaRPr lang="en-US" sz="1700" dirty="0"/>
          </a:p>
        </p:txBody>
      </p:sp>
      <p:sp>
        <p:nvSpPr>
          <p:cNvPr id="9" name="Text 7"/>
          <p:cNvSpPr txBox="1"/>
          <p:nvPr/>
        </p:nvSpPr>
        <p:spPr>
          <a:xfrm>
            <a:off x="822960" y="2240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Techniques and Movement That Work in Real Sparring. Nothing Added Just Because It Looks Flashy.</a:t>
            </a:r>
            <a:endParaRPr lang="en-US" sz="1400" dirty="0"/>
          </a:p>
        </p:txBody>
      </p:sp>
      <p:sp>
        <p:nvSpPr>
          <p:cNvPr id="10" name="Shape 8"/>
          <p:cNvSpPr/>
          <p:nvPr/>
        </p:nvSpPr>
        <p:spPr>
          <a:xfrm>
            <a:off x="4338218" y="1417320"/>
            <a:ext cx="3515258" cy="2011680"/>
          </a:xfrm>
          <a:prstGeom prst="roundRect">
            <a:avLst>
              <a:gd name="adj" fmla="val 3636"/>
            </a:avLst>
          </a:prstGeom>
          <a:solidFill>
            <a:srgbClr val="F2F4F8"/>
          </a:solidFill>
          <a:ln/>
        </p:spPr>
        <p:txBody>
          <a:bodyPr/>
          <a:lstStyle/>
          <a:p>
            <a:endParaRPr lang="en-CA"/>
          </a:p>
        </p:txBody>
      </p:sp>
      <p:sp>
        <p:nvSpPr>
          <p:cNvPr id="11" name="Shape 9"/>
          <p:cNvSpPr/>
          <p:nvPr/>
        </p:nvSpPr>
        <p:spPr>
          <a:xfrm>
            <a:off x="4612538" y="1737360"/>
            <a:ext cx="201168" cy="201168"/>
          </a:xfrm>
          <a:prstGeom prst="ellipse">
            <a:avLst/>
          </a:prstGeom>
          <a:solidFill>
            <a:srgbClr val="C8102E"/>
          </a:solidFill>
          <a:ln/>
        </p:spPr>
        <p:txBody>
          <a:bodyPr/>
          <a:lstStyle/>
          <a:p>
            <a:endParaRPr lang="en-CA"/>
          </a:p>
        </p:txBody>
      </p:sp>
      <p:sp>
        <p:nvSpPr>
          <p:cNvPr id="12" name="Text 10"/>
          <p:cNvSpPr txBox="1"/>
          <p:nvPr/>
        </p:nvSpPr>
        <p:spPr>
          <a:xfrm>
            <a:off x="4978298" y="1636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Distance Matters</a:t>
            </a:r>
            <a:endParaRPr lang="en-US" sz="1700" dirty="0"/>
          </a:p>
        </p:txBody>
      </p:sp>
      <p:sp>
        <p:nvSpPr>
          <p:cNvPr id="13" name="Text 11"/>
          <p:cNvSpPr txBox="1"/>
          <p:nvPr/>
        </p:nvSpPr>
        <p:spPr>
          <a:xfrm>
            <a:off x="4612538" y="2240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Attacks Don’t Magnetically Connect. Small Correction Is Fine; Bad Distance Still Misses.</a:t>
            </a:r>
            <a:endParaRPr lang="en-US" sz="1400" dirty="0"/>
          </a:p>
        </p:txBody>
      </p:sp>
      <p:sp>
        <p:nvSpPr>
          <p:cNvPr id="14" name="Shape 12"/>
          <p:cNvSpPr/>
          <p:nvPr/>
        </p:nvSpPr>
        <p:spPr>
          <a:xfrm>
            <a:off x="8127797" y="1417320"/>
            <a:ext cx="3515258" cy="2011680"/>
          </a:xfrm>
          <a:prstGeom prst="roundRect">
            <a:avLst>
              <a:gd name="adj" fmla="val 3636"/>
            </a:avLst>
          </a:prstGeom>
          <a:solidFill>
            <a:srgbClr val="F2F4F8"/>
          </a:solidFill>
          <a:ln/>
        </p:spPr>
        <p:txBody>
          <a:bodyPr/>
          <a:lstStyle/>
          <a:p>
            <a:endParaRPr lang="en-CA"/>
          </a:p>
        </p:txBody>
      </p:sp>
      <p:sp>
        <p:nvSpPr>
          <p:cNvPr id="15" name="Shape 13"/>
          <p:cNvSpPr/>
          <p:nvPr/>
        </p:nvSpPr>
        <p:spPr>
          <a:xfrm>
            <a:off x="8402117" y="1737360"/>
            <a:ext cx="201168" cy="201168"/>
          </a:xfrm>
          <a:prstGeom prst="ellipse">
            <a:avLst/>
          </a:prstGeom>
          <a:solidFill>
            <a:srgbClr val="1F5BC4"/>
          </a:solidFill>
          <a:ln/>
        </p:spPr>
        <p:txBody>
          <a:bodyPr/>
          <a:lstStyle/>
          <a:p>
            <a:endParaRPr lang="en-CA"/>
          </a:p>
        </p:txBody>
      </p:sp>
      <p:sp>
        <p:nvSpPr>
          <p:cNvPr id="16" name="Text 14"/>
          <p:cNvSpPr txBox="1"/>
          <p:nvPr/>
        </p:nvSpPr>
        <p:spPr>
          <a:xfrm>
            <a:off x="8767877" y="1636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Commitment Matters</a:t>
            </a:r>
            <a:endParaRPr lang="en-US" sz="1700" dirty="0"/>
          </a:p>
        </p:txBody>
      </p:sp>
      <p:sp>
        <p:nvSpPr>
          <p:cNvPr id="17" name="Text 15"/>
          <p:cNvSpPr txBox="1"/>
          <p:nvPr/>
        </p:nvSpPr>
        <p:spPr>
          <a:xfrm>
            <a:off x="8402117" y="2240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Startup, Active and Recovery Phases Create Counter Openings. Big Techniques Are Big Risks.</a:t>
            </a:r>
            <a:endParaRPr lang="en-US" sz="1400" dirty="0"/>
          </a:p>
        </p:txBody>
      </p:sp>
      <p:sp>
        <p:nvSpPr>
          <p:cNvPr id="18" name="Shape 16"/>
          <p:cNvSpPr/>
          <p:nvPr/>
        </p:nvSpPr>
        <p:spPr>
          <a:xfrm>
            <a:off x="548640" y="3703320"/>
            <a:ext cx="3515258" cy="2011680"/>
          </a:xfrm>
          <a:prstGeom prst="roundRect">
            <a:avLst>
              <a:gd name="adj" fmla="val 3636"/>
            </a:avLst>
          </a:prstGeom>
          <a:solidFill>
            <a:srgbClr val="F2F4F8"/>
          </a:solidFill>
          <a:ln/>
        </p:spPr>
        <p:txBody>
          <a:bodyPr/>
          <a:lstStyle/>
          <a:p>
            <a:endParaRPr lang="en-CA"/>
          </a:p>
        </p:txBody>
      </p:sp>
      <p:sp>
        <p:nvSpPr>
          <p:cNvPr id="19" name="Shape 17"/>
          <p:cNvSpPr/>
          <p:nvPr/>
        </p:nvSpPr>
        <p:spPr>
          <a:xfrm>
            <a:off x="822960" y="4023360"/>
            <a:ext cx="201168" cy="201168"/>
          </a:xfrm>
          <a:prstGeom prst="ellipse">
            <a:avLst/>
          </a:prstGeom>
          <a:solidFill>
            <a:srgbClr val="C8102E"/>
          </a:solidFill>
          <a:ln/>
        </p:spPr>
        <p:txBody>
          <a:bodyPr/>
          <a:lstStyle/>
          <a:p>
            <a:endParaRPr lang="en-CA"/>
          </a:p>
        </p:txBody>
      </p:sp>
      <p:sp>
        <p:nvSpPr>
          <p:cNvPr id="20" name="Text 18"/>
          <p:cNvSpPr txBox="1"/>
          <p:nvPr/>
        </p:nvSpPr>
        <p:spPr>
          <a:xfrm>
            <a:off x="1188720" y="3922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Score and Stamina Are Separate</a:t>
            </a:r>
            <a:endParaRPr lang="en-US" sz="1700" dirty="0"/>
          </a:p>
        </p:txBody>
      </p:sp>
      <p:sp>
        <p:nvSpPr>
          <p:cNvPr id="21" name="Text 19"/>
          <p:cNvSpPr txBox="1"/>
          <p:nvPr/>
        </p:nvSpPr>
        <p:spPr>
          <a:xfrm>
            <a:off x="822960" y="4526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Score Decides Who Is Winning. Stamina Decides What the Fighter Can Execute Well Right Now.</a:t>
            </a:r>
            <a:endParaRPr lang="en-US" sz="1400" dirty="0"/>
          </a:p>
        </p:txBody>
      </p:sp>
      <p:sp>
        <p:nvSpPr>
          <p:cNvPr id="22" name="Shape 20"/>
          <p:cNvSpPr/>
          <p:nvPr/>
        </p:nvSpPr>
        <p:spPr>
          <a:xfrm>
            <a:off x="4338218" y="3703320"/>
            <a:ext cx="3515258" cy="2011680"/>
          </a:xfrm>
          <a:prstGeom prst="roundRect">
            <a:avLst>
              <a:gd name="adj" fmla="val 3636"/>
            </a:avLst>
          </a:prstGeom>
          <a:solidFill>
            <a:srgbClr val="F2F4F8"/>
          </a:solidFill>
          <a:ln/>
        </p:spPr>
        <p:txBody>
          <a:bodyPr/>
          <a:lstStyle/>
          <a:p>
            <a:endParaRPr lang="en-CA"/>
          </a:p>
        </p:txBody>
      </p:sp>
      <p:sp>
        <p:nvSpPr>
          <p:cNvPr id="23" name="Shape 21"/>
          <p:cNvSpPr/>
          <p:nvPr/>
        </p:nvSpPr>
        <p:spPr>
          <a:xfrm>
            <a:off x="4612538" y="4023360"/>
            <a:ext cx="201168" cy="201168"/>
          </a:xfrm>
          <a:prstGeom prst="ellipse">
            <a:avLst/>
          </a:prstGeom>
          <a:solidFill>
            <a:srgbClr val="1F5BC4"/>
          </a:solidFill>
          <a:ln/>
        </p:spPr>
        <p:txBody>
          <a:bodyPr/>
          <a:lstStyle/>
          <a:p>
            <a:endParaRPr lang="en-CA"/>
          </a:p>
        </p:txBody>
      </p:sp>
      <p:sp>
        <p:nvSpPr>
          <p:cNvPr id="24" name="Text 22"/>
          <p:cNvSpPr txBox="1"/>
          <p:nvPr/>
        </p:nvSpPr>
        <p:spPr>
          <a:xfrm>
            <a:off x="4978298" y="3922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Animation Serves Gameplay</a:t>
            </a:r>
            <a:endParaRPr lang="en-US" sz="1700" dirty="0"/>
          </a:p>
        </p:txBody>
      </p:sp>
      <p:sp>
        <p:nvSpPr>
          <p:cNvPr id="25" name="Text 23"/>
          <p:cNvSpPr txBox="1"/>
          <p:nvPr/>
        </p:nvSpPr>
        <p:spPr>
          <a:xfrm>
            <a:off x="4612538" y="4526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Mocap Is Cut into Reusable States, Transitions and Reactions That Gameplay Drives.</a:t>
            </a:r>
            <a:endParaRPr lang="en-US" sz="1400" dirty="0"/>
          </a:p>
        </p:txBody>
      </p:sp>
      <p:sp>
        <p:nvSpPr>
          <p:cNvPr id="26" name="Shape 24"/>
          <p:cNvSpPr/>
          <p:nvPr/>
        </p:nvSpPr>
        <p:spPr>
          <a:xfrm>
            <a:off x="8127797" y="3703320"/>
            <a:ext cx="3515258" cy="2011680"/>
          </a:xfrm>
          <a:prstGeom prst="roundRect">
            <a:avLst>
              <a:gd name="adj" fmla="val 3636"/>
            </a:avLst>
          </a:prstGeom>
          <a:solidFill>
            <a:srgbClr val="F2F4F8"/>
          </a:solidFill>
          <a:ln/>
        </p:spPr>
        <p:txBody>
          <a:bodyPr/>
          <a:lstStyle/>
          <a:p>
            <a:endParaRPr lang="en-CA"/>
          </a:p>
        </p:txBody>
      </p:sp>
      <p:sp>
        <p:nvSpPr>
          <p:cNvPr id="27" name="Shape 25"/>
          <p:cNvSpPr/>
          <p:nvPr/>
        </p:nvSpPr>
        <p:spPr>
          <a:xfrm>
            <a:off x="8402117" y="4023360"/>
            <a:ext cx="201168" cy="201168"/>
          </a:xfrm>
          <a:prstGeom prst="ellipse">
            <a:avLst/>
          </a:prstGeom>
          <a:solidFill>
            <a:srgbClr val="C8102E"/>
          </a:solidFill>
          <a:ln/>
        </p:spPr>
        <p:txBody>
          <a:bodyPr/>
          <a:lstStyle/>
          <a:p>
            <a:endParaRPr lang="en-CA"/>
          </a:p>
        </p:txBody>
      </p:sp>
      <p:sp>
        <p:nvSpPr>
          <p:cNvPr id="28" name="Text 26"/>
          <p:cNvSpPr txBox="1"/>
          <p:nvPr/>
        </p:nvSpPr>
        <p:spPr>
          <a:xfrm>
            <a:off x="8767877" y="3922776"/>
            <a:ext cx="2600858" cy="411480"/>
          </a:xfrm>
          <a:prstGeom prst="rect">
            <a:avLst/>
          </a:prstGeom>
          <a:noFill/>
          <a:ln/>
        </p:spPr>
        <p:txBody>
          <a:bodyPr wrap="square" lIns="0" tIns="0" rIns="0" bIns="0" rtlCol="0" anchor="ctr"/>
          <a:lstStyle/>
          <a:p>
            <a:pPr marL="0" indent="0">
              <a:buNone/>
            </a:pPr>
            <a:r>
              <a:rPr lang="en-US" sz="1700" b="1" dirty="0">
                <a:solidFill>
                  <a:srgbClr val="1A202C"/>
                </a:solidFill>
                <a:latin typeface="Arial" pitchFamily="34" charset="0"/>
                <a:ea typeface="Arial" pitchFamily="34" charset="-122"/>
                <a:cs typeface="Arial" pitchFamily="34" charset="-120"/>
              </a:rPr>
              <a:t>Respect the Sport</a:t>
            </a:r>
            <a:endParaRPr lang="en-US" sz="1700" dirty="0"/>
          </a:p>
        </p:txBody>
      </p:sp>
      <p:sp>
        <p:nvSpPr>
          <p:cNvPr id="29" name="Text 27"/>
          <p:cNvSpPr txBox="1"/>
          <p:nvPr/>
        </p:nvSpPr>
        <p:spPr>
          <a:xfrm>
            <a:off x="8402117" y="4526280"/>
            <a:ext cx="2966618" cy="1005840"/>
          </a:xfrm>
          <a:prstGeom prst="rect">
            <a:avLst/>
          </a:prstGeom>
          <a:noFill/>
          <a:ln/>
        </p:spPr>
        <p:txBody>
          <a:bodyPr wrap="square" lIns="0" tIns="0" rIns="0" bIns="0" rtlCol="0" anchor="t"/>
          <a:lstStyle/>
          <a:p>
            <a:pPr marL="0" indent="0">
              <a:buNone/>
            </a:pPr>
            <a:r>
              <a:rPr lang="en-US" sz="1400" dirty="0">
                <a:solidFill>
                  <a:srgbClr val="1A202C"/>
                </a:solidFill>
                <a:latin typeface="Calibri" pitchFamily="34" charset="0"/>
                <a:ea typeface="Calibri" pitchFamily="34" charset="-122"/>
                <a:cs typeface="Calibri" pitchFamily="34" charset="-120"/>
              </a:rPr>
              <a:t>Real Ranks, Competition Colours, Skin, Hair and Eye Colours. Skill Decides Matches, Never Purchases.</a:t>
            </a:r>
            <a:endParaRPr lang="en-US" sz="1400" dirty="0"/>
          </a:p>
        </p:txBody>
      </p:sp>
      <p:sp>
        <p:nvSpPr>
          <p:cNvPr id="30" name="Text 28"/>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02 · HOW IT PLAYS</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The Exchange: 1 to 3 Seconds</a:t>
            </a:r>
            <a:endParaRPr lang="en-US" sz="3400" dirty="0"/>
          </a:p>
        </p:txBody>
      </p:sp>
      <p:sp>
        <p:nvSpPr>
          <p:cNvPr id="6" name="Shape 4"/>
          <p:cNvSpPr/>
          <p:nvPr/>
        </p:nvSpPr>
        <p:spPr>
          <a:xfrm>
            <a:off x="548640" y="1463040"/>
            <a:ext cx="2011680" cy="640080"/>
          </a:xfrm>
          <a:prstGeom prst="chevron">
            <a:avLst/>
          </a:prstGeom>
          <a:solidFill>
            <a:srgbClr val="1F5BC4"/>
          </a:solidFill>
          <a:ln/>
        </p:spPr>
        <p:txBody>
          <a:bodyPr/>
          <a:lstStyle/>
          <a:p>
            <a:endParaRPr lang="en-CA"/>
          </a:p>
        </p:txBody>
      </p:sp>
      <p:sp>
        <p:nvSpPr>
          <p:cNvPr id="7" name="Text 5"/>
          <p:cNvSpPr txBox="1"/>
          <p:nvPr/>
        </p:nvSpPr>
        <p:spPr>
          <a:xfrm>
            <a:off x="548640"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548640"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Read Distance</a:t>
            </a:r>
            <a:endParaRPr lang="en-US" sz="1600" dirty="0"/>
          </a:p>
        </p:txBody>
      </p:sp>
      <p:sp>
        <p:nvSpPr>
          <p:cNvPr id="9" name="Text 7"/>
          <p:cNvSpPr txBox="1"/>
          <p:nvPr/>
        </p:nvSpPr>
        <p:spPr>
          <a:xfrm>
            <a:off x="548640"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Bounce in Guard Just Outside Kicking Range. Step, Angle and Switch Sides.</a:t>
            </a:r>
            <a:endParaRPr lang="en-US" sz="1300" dirty="0"/>
          </a:p>
        </p:txBody>
      </p:sp>
      <p:sp>
        <p:nvSpPr>
          <p:cNvPr id="10" name="Shape 8"/>
          <p:cNvSpPr/>
          <p:nvPr/>
        </p:nvSpPr>
        <p:spPr>
          <a:xfrm>
            <a:off x="2819324" y="1463040"/>
            <a:ext cx="2011680" cy="640080"/>
          </a:xfrm>
          <a:prstGeom prst="chevron">
            <a:avLst/>
          </a:prstGeom>
          <a:solidFill>
            <a:srgbClr val="1F5BC4"/>
          </a:solidFill>
          <a:ln/>
        </p:spPr>
        <p:txBody>
          <a:bodyPr/>
          <a:lstStyle/>
          <a:p>
            <a:endParaRPr lang="en-CA"/>
          </a:p>
        </p:txBody>
      </p:sp>
      <p:sp>
        <p:nvSpPr>
          <p:cNvPr id="11" name="Text 9"/>
          <p:cNvSpPr txBox="1"/>
          <p:nvPr/>
        </p:nvSpPr>
        <p:spPr>
          <a:xfrm>
            <a:off x="2819324"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Text 10"/>
          <p:cNvSpPr txBox="1"/>
          <p:nvPr/>
        </p:nvSpPr>
        <p:spPr>
          <a:xfrm>
            <a:off x="2819324"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Set Up</a:t>
            </a:r>
            <a:endParaRPr lang="en-US" sz="1600" dirty="0"/>
          </a:p>
        </p:txBody>
      </p:sp>
      <p:sp>
        <p:nvSpPr>
          <p:cNvPr id="13" name="Text 11"/>
          <p:cNvSpPr txBox="1"/>
          <p:nvPr/>
        </p:nvSpPr>
        <p:spPr>
          <a:xfrm>
            <a:off x="2819324"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Fake Attack, Guard Change or Dash Draws a Reaction.</a:t>
            </a:r>
            <a:endParaRPr lang="en-US" sz="1300" dirty="0"/>
          </a:p>
        </p:txBody>
      </p:sp>
      <p:sp>
        <p:nvSpPr>
          <p:cNvPr id="14" name="Shape 12"/>
          <p:cNvSpPr/>
          <p:nvPr/>
        </p:nvSpPr>
        <p:spPr>
          <a:xfrm>
            <a:off x="5090008" y="1463040"/>
            <a:ext cx="2011680" cy="640080"/>
          </a:xfrm>
          <a:prstGeom prst="chevron">
            <a:avLst/>
          </a:prstGeom>
          <a:solidFill>
            <a:srgbClr val="C8102E"/>
          </a:solidFill>
          <a:ln/>
        </p:spPr>
        <p:txBody>
          <a:bodyPr/>
          <a:lstStyle/>
          <a:p>
            <a:endParaRPr lang="en-CA"/>
          </a:p>
        </p:txBody>
      </p:sp>
      <p:sp>
        <p:nvSpPr>
          <p:cNvPr id="15" name="Text 13"/>
          <p:cNvSpPr txBox="1"/>
          <p:nvPr/>
        </p:nvSpPr>
        <p:spPr>
          <a:xfrm>
            <a:off x="5090008"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5090008"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Commit</a:t>
            </a:r>
            <a:endParaRPr lang="en-US" sz="1600" dirty="0"/>
          </a:p>
        </p:txBody>
      </p:sp>
      <p:sp>
        <p:nvSpPr>
          <p:cNvPr id="17" name="Text 15"/>
          <p:cNvSpPr txBox="1"/>
          <p:nvPr/>
        </p:nvSpPr>
        <p:spPr>
          <a:xfrm>
            <a:off x="5090008"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Skill Stick Gesture Throws the Technique. Startup and Active Timing Decide Who Lands First.</a:t>
            </a:r>
            <a:endParaRPr lang="en-US" sz="1300" dirty="0"/>
          </a:p>
        </p:txBody>
      </p:sp>
      <p:sp>
        <p:nvSpPr>
          <p:cNvPr id="18" name="Shape 16"/>
          <p:cNvSpPr/>
          <p:nvPr/>
        </p:nvSpPr>
        <p:spPr>
          <a:xfrm>
            <a:off x="7360691" y="1463040"/>
            <a:ext cx="2011680" cy="640080"/>
          </a:xfrm>
          <a:prstGeom prst="chevron">
            <a:avLst/>
          </a:prstGeom>
          <a:solidFill>
            <a:srgbClr val="1F5BC4"/>
          </a:solidFill>
          <a:ln/>
        </p:spPr>
        <p:txBody>
          <a:bodyPr/>
          <a:lstStyle/>
          <a:p>
            <a:endParaRPr lang="en-CA"/>
          </a:p>
        </p:txBody>
      </p:sp>
      <p:sp>
        <p:nvSpPr>
          <p:cNvPr id="19" name="Text 17"/>
          <p:cNvSpPr txBox="1"/>
          <p:nvPr/>
        </p:nvSpPr>
        <p:spPr>
          <a:xfrm>
            <a:off x="7360691"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0" name="Text 18"/>
          <p:cNvSpPr txBox="1"/>
          <p:nvPr/>
        </p:nvSpPr>
        <p:spPr>
          <a:xfrm>
            <a:off x="7360691"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Score or Miss</a:t>
            </a:r>
            <a:endParaRPr lang="en-US" sz="1600" dirty="0"/>
          </a:p>
        </p:txBody>
      </p:sp>
      <p:sp>
        <p:nvSpPr>
          <p:cNvPr id="21" name="Text 19"/>
          <p:cNvSpPr txBox="1"/>
          <p:nvPr/>
        </p:nvSpPr>
        <p:spPr>
          <a:xfrm>
            <a:off x="7360691"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Valid Hit Scores with a Sound Matched to the Points. A Miss Leaves You Open.</a:t>
            </a:r>
            <a:endParaRPr lang="en-US" sz="1300" dirty="0"/>
          </a:p>
        </p:txBody>
      </p:sp>
      <p:sp>
        <p:nvSpPr>
          <p:cNvPr id="22" name="Shape 20"/>
          <p:cNvSpPr/>
          <p:nvPr/>
        </p:nvSpPr>
        <p:spPr>
          <a:xfrm>
            <a:off x="9631375" y="1463040"/>
            <a:ext cx="2011680" cy="640080"/>
          </a:xfrm>
          <a:prstGeom prst="chevron">
            <a:avLst/>
          </a:prstGeom>
          <a:solidFill>
            <a:srgbClr val="1F5BC4"/>
          </a:solidFill>
          <a:ln/>
        </p:spPr>
        <p:txBody>
          <a:bodyPr/>
          <a:lstStyle/>
          <a:p>
            <a:endParaRPr lang="en-CA"/>
          </a:p>
        </p:txBody>
      </p:sp>
      <p:sp>
        <p:nvSpPr>
          <p:cNvPr id="23" name="Text 21"/>
          <p:cNvSpPr txBox="1"/>
          <p:nvPr/>
        </p:nvSpPr>
        <p:spPr>
          <a:xfrm>
            <a:off x="9631375" y="1463040"/>
            <a:ext cx="20116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4" name="Text 22"/>
          <p:cNvSpPr txBox="1"/>
          <p:nvPr/>
        </p:nvSpPr>
        <p:spPr>
          <a:xfrm>
            <a:off x="9631375" y="2331720"/>
            <a:ext cx="2011680" cy="365760"/>
          </a:xfrm>
          <a:prstGeom prst="rect">
            <a:avLst/>
          </a:prstGeom>
          <a:noFill/>
          <a:ln/>
        </p:spPr>
        <p:txBody>
          <a:bodyPr wrap="square" lIns="0" tIns="0" rIns="0" bIns="0" rtlCol="0" anchor="t"/>
          <a:lstStyle/>
          <a:p>
            <a:pPr marL="0" indent="0">
              <a:buNone/>
            </a:pPr>
            <a:r>
              <a:rPr lang="en-US" sz="1600" b="1" dirty="0">
                <a:solidFill>
                  <a:srgbClr val="1A202C"/>
                </a:solidFill>
                <a:latin typeface="Arial" pitchFamily="34" charset="0"/>
                <a:ea typeface="Arial" pitchFamily="34" charset="-122"/>
                <a:cs typeface="Arial" pitchFamily="34" charset="-120"/>
              </a:rPr>
              <a:t>Reset</a:t>
            </a:r>
            <a:endParaRPr lang="en-US" sz="1600" dirty="0"/>
          </a:p>
        </p:txBody>
      </p:sp>
      <p:sp>
        <p:nvSpPr>
          <p:cNvPr id="25" name="Text 23"/>
          <p:cNvSpPr txBox="1"/>
          <p:nvPr/>
        </p:nvSpPr>
        <p:spPr>
          <a:xfrm>
            <a:off x="9631375" y="2743200"/>
            <a:ext cx="2011680" cy="11887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Back to Guard. The Referee Calls Kal-Yeo to Break a Clinch.</a:t>
            </a:r>
            <a:endParaRPr lang="en-US" sz="1300" dirty="0"/>
          </a:p>
        </p:txBody>
      </p:sp>
      <p:sp>
        <p:nvSpPr>
          <p:cNvPr id="26" name="Text 24"/>
          <p:cNvSpPr txBox="1"/>
          <p:nvPr/>
        </p:nvSpPr>
        <p:spPr>
          <a:xfrm>
            <a:off x="548640" y="4160520"/>
            <a:ext cx="3657600"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Outer Loops</a:t>
            </a:r>
            <a:endParaRPr lang="en-US" sz="1800" dirty="0"/>
          </a:p>
        </p:txBody>
      </p:sp>
      <p:sp>
        <p:nvSpPr>
          <p:cNvPr id="27" name="Shape 25"/>
          <p:cNvSpPr/>
          <p:nvPr/>
        </p:nvSpPr>
        <p:spPr>
          <a:xfrm>
            <a:off x="548640" y="4617720"/>
            <a:ext cx="2567864" cy="1371600"/>
          </a:xfrm>
          <a:prstGeom prst="roundRect">
            <a:avLst>
              <a:gd name="adj" fmla="val 5333"/>
            </a:avLst>
          </a:prstGeom>
          <a:solidFill>
            <a:srgbClr val="F2F4F8"/>
          </a:solidFill>
          <a:ln/>
        </p:spPr>
        <p:txBody>
          <a:bodyPr/>
          <a:lstStyle/>
          <a:p>
            <a:endParaRPr lang="en-CA"/>
          </a:p>
        </p:txBody>
      </p:sp>
      <p:sp>
        <p:nvSpPr>
          <p:cNvPr id="28" name="Text 26"/>
          <p:cNvSpPr txBox="1"/>
          <p:nvPr/>
        </p:nvSpPr>
        <p:spPr>
          <a:xfrm>
            <a:off x="777240"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Round  </a:t>
            </a:r>
            <a:r>
              <a:rPr lang="en-US" sz="1500" b="1" dirty="0">
                <a:solidFill>
                  <a:srgbClr val="1F5BC4"/>
                </a:solidFill>
                <a:latin typeface="Calibri" pitchFamily="34" charset="0"/>
                <a:ea typeface="Calibri" pitchFamily="34" charset="-122"/>
                <a:cs typeface="Calibri" pitchFamily="34" charset="-120"/>
              </a:rPr>
              <a:t>2:00</a:t>
            </a:r>
            <a:endParaRPr lang="en-US" sz="1500" dirty="0"/>
          </a:p>
        </p:txBody>
      </p:sp>
      <p:sp>
        <p:nvSpPr>
          <p:cNvPr id="29" name="Text 27"/>
          <p:cNvSpPr txBox="1"/>
          <p:nvPr/>
        </p:nvSpPr>
        <p:spPr>
          <a:xfrm>
            <a:off x="777240"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Clock and Point Gap Change Which Risk Is Right</a:t>
            </a:r>
            <a:endParaRPr lang="en-US" sz="1300" dirty="0"/>
          </a:p>
        </p:txBody>
      </p:sp>
      <p:sp>
        <p:nvSpPr>
          <p:cNvPr id="30" name="Shape 28"/>
          <p:cNvSpPr/>
          <p:nvPr/>
        </p:nvSpPr>
        <p:spPr>
          <a:xfrm>
            <a:off x="3390824" y="4617720"/>
            <a:ext cx="2567864" cy="1371600"/>
          </a:xfrm>
          <a:prstGeom prst="roundRect">
            <a:avLst>
              <a:gd name="adj" fmla="val 5333"/>
            </a:avLst>
          </a:prstGeom>
          <a:solidFill>
            <a:srgbClr val="F2F4F8"/>
          </a:solidFill>
          <a:ln/>
        </p:spPr>
        <p:txBody>
          <a:bodyPr/>
          <a:lstStyle/>
          <a:p>
            <a:endParaRPr lang="en-CA"/>
          </a:p>
        </p:txBody>
      </p:sp>
      <p:sp>
        <p:nvSpPr>
          <p:cNvPr id="31" name="Text 29"/>
          <p:cNvSpPr txBox="1"/>
          <p:nvPr/>
        </p:nvSpPr>
        <p:spPr>
          <a:xfrm>
            <a:off x="3619424"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Match  </a:t>
            </a:r>
            <a:r>
              <a:rPr lang="en-US" sz="1500" b="1" dirty="0">
                <a:solidFill>
                  <a:srgbClr val="C8102E"/>
                </a:solidFill>
                <a:latin typeface="Calibri" pitchFamily="34" charset="0"/>
                <a:ea typeface="Calibri" pitchFamily="34" charset="-122"/>
                <a:cs typeface="Calibri" pitchFamily="34" charset="-120"/>
              </a:rPr>
              <a:t>5–8 min</a:t>
            </a:r>
            <a:endParaRPr lang="en-US" sz="1500" dirty="0"/>
          </a:p>
        </p:txBody>
      </p:sp>
      <p:sp>
        <p:nvSpPr>
          <p:cNvPr id="32" name="Text 30"/>
          <p:cNvSpPr txBox="1"/>
          <p:nvPr/>
        </p:nvSpPr>
        <p:spPr>
          <a:xfrm>
            <a:off x="3619424"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Adapt to the Opponent’s Habits Between Rounds</a:t>
            </a:r>
            <a:endParaRPr lang="en-US" sz="1300" dirty="0"/>
          </a:p>
        </p:txBody>
      </p:sp>
      <p:sp>
        <p:nvSpPr>
          <p:cNvPr id="33" name="Shape 31"/>
          <p:cNvSpPr/>
          <p:nvPr/>
        </p:nvSpPr>
        <p:spPr>
          <a:xfrm>
            <a:off x="6233008" y="4617720"/>
            <a:ext cx="2567864" cy="1371600"/>
          </a:xfrm>
          <a:prstGeom prst="roundRect">
            <a:avLst>
              <a:gd name="adj" fmla="val 5333"/>
            </a:avLst>
          </a:prstGeom>
          <a:solidFill>
            <a:srgbClr val="F2F4F8"/>
          </a:solidFill>
          <a:ln/>
        </p:spPr>
        <p:txBody>
          <a:bodyPr/>
          <a:lstStyle/>
          <a:p>
            <a:endParaRPr lang="en-CA"/>
          </a:p>
        </p:txBody>
      </p:sp>
      <p:sp>
        <p:nvSpPr>
          <p:cNvPr id="34" name="Text 32"/>
          <p:cNvSpPr txBox="1"/>
          <p:nvPr/>
        </p:nvSpPr>
        <p:spPr>
          <a:xfrm>
            <a:off x="6461608"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Session  </a:t>
            </a:r>
            <a:r>
              <a:rPr lang="en-US" sz="1500" b="1" dirty="0">
                <a:solidFill>
                  <a:srgbClr val="1F5BC4"/>
                </a:solidFill>
                <a:latin typeface="Calibri" pitchFamily="34" charset="0"/>
                <a:ea typeface="Calibri" pitchFamily="34" charset="-122"/>
                <a:cs typeface="Calibri" pitchFamily="34" charset="-120"/>
              </a:rPr>
              <a:t>20–40 min</a:t>
            </a:r>
            <a:endParaRPr lang="en-US" sz="1500" dirty="0"/>
          </a:p>
        </p:txBody>
      </p:sp>
      <p:sp>
        <p:nvSpPr>
          <p:cNvPr id="35" name="Text 33"/>
          <p:cNvSpPr txBox="1"/>
          <p:nvPr/>
        </p:nvSpPr>
        <p:spPr>
          <a:xfrm>
            <a:off x="6461608"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Train, Spar, Review, Train</a:t>
            </a:r>
            <a:endParaRPr lang="en-US" sz="1300" dirty="0"/>
          </a:p>
        </p:txBody>
      </p:sp>
      <p:sp>
        <p:nvSpPr>
          <p:cNvPr id="36" name="Shape 34"/>
          <p:cNvSpPr/>
          <p:nvPr/>
        </p:nvSpPr>
        <p:spPr>
          <a:xfrm>
            <a:off x="9075191" y="4617720"/>
            <a:ext cx="2567864" cy="1371600"/>
          </a:xfrm>
          <a:prstGeom prst="roundRect">
            <a:avLst>
              <a:gd name="adj" fmla="val 5333"/>
            </a:avLst>
          </a:prstGeom>
          <a:solidFill>
            <a:srgbClr val="F2F4F8"/>
          </a:solidFill>
          <a:ln/>
        </p:spPr>
        <p:txBody>
          <a:bodyPr/>
          <a:lstStyle/>
          <a:p>
            <a:endParaRPr lang="en-CA"/>
          </a:p>
        </p:txBody>
      </p:sp>
      <p:sp>
        <p:nvSpPr>
          <p:cNvPr id="37" name="Text 35"/>
          <p:cNvSpPr txBox="1"/>
          <p:nvPr/>
        </p:nvSpPr>
        <p:spPr>
          <a:xfrm>
            <a:off x="9303791" y="4800600"/>
            <a:ext cx="2110664"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Career Week  </a:t>
            </a:r>
            <a:r>
              <a:rPr lang="en-US" sz="1500" b="1" dirty="0">
                <a:solidFill>
                  <a:srgbClr val="C8102E"/>
                </a:solidFill>
                <a:latin typeface="Calibri" pitchFamily="34" charset="0"/>
                <a:ea typeface="Calibri" pitchFamily="34" charset="-122"/>
                <a:cs typeface="Calibri" pitchFamily="34" charset="-120"/>
              </a:rPr>
              <a:t>10–20 min</a:t>
            </a:r>
            <a:endParaRPr lang="en-US" sz="1500" dirty="0"/>
          </a:p>
        </p:txBody>
      </p:sp>
      <p:sp>
        <p:nvSpPr>
          <p:cNvPr id="38" name="Text 36"/>
          <p:cNvSpPr txBox="1"/>
          <p:nvPr/>
        </p:nvSpPr>
        <p:spPr>
          <a:xfrm>
            <a:off x="9303791" y="5184648"/>
            <a:ext cx="2110664" cy="6858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Rank, Rivals and Events Give Long-Term Goals</a:t>
            </a:r>
            <a:endParaRPr lang="en-US" sz="1300" dirty="0"/>
          </a:p>
        </p:txBody>
      </p:sp>
      <p:sp>
        <p:nvSpPr>
          <p:cNvPr id="39" name="Text 37"/>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02 · HOW IT PLAYS</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The Skill Stick</a:t>
            </a:r>
            <a:endParaRPr lang="en-US" sz="3400" dirty="0"/>
          </a:p>
        </p:txBody>
      </p:sp>
      <p:pic>
        <p:nvPicPr>
          <p:cNvPr id="6" name="Image 0" descr="img/controller.png"/>
          <p:cNvPicPr>
            <a:picLocks noChangeAspect="1"/>
          </p:cNvPicPr>
          <p:nvPr/>
        </p:nvPicPr>
        <p:blipFill>
          <a:blip r:embed="rId3"/>
          <a:stretch>
            <a:fillRect/>
          </a:stretch>
        </p:blipFill>
        <p:spPr>
          <a:xfrm>
            <a:off x="274320" y="1280160"/>
            <a:ext cx="6766560" cy="2819400"/>
          </a:xfrm>
          <a:prstGeom prst="rect">
            <a:avLst/>
          </a:prstGeom>
        </p:spPr>
      </p:pic>
      <p:sp>
        <p:nvSpPr>
          <p:cNvPr id="7" name="Text 4"/>
          <p:cNvSpPr txBox="1"/>
          <p:nvPr/>
        </p:nvSpPr>
        <p:spPr>
          <a:xfrm>
            <a:off x="548640" y="4343400"/>
            <a:ext cx="5943600" cy="320040"/>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Hold a Modifier, Then Gesture:</a:t>
            </a:r>
            <a:endParaRPr lang="en-US" sz="1400" dirty="0"/>
          </a:p>
        </p:txBody>
      </p:sp>
      <p:sp>
        <p:nvSpPr>
          <p:cNvPr id="8" name="Shape 5"/>
          <p:cNvSpPr/>
          <p:nvPr/>
        </p:nvSpPr>
        <p:spPr>
          <a:xfrm>
            <a:off x="548640" y="4800600"/>
            <a:ext cx="594360" cy="594360"/>
          </a:xfrm>
          <a:prstGeom prst="ellipse">
            <a:avLst/>
          </a:prstGeom>
          <a:solidFill>
            <a:srgbClr val="1F5BC4"/>
          </a:solidFill>
          <a:ln/>
        </p:spPr>
        <p:txBody>
          <a:bodyPr/>
          <a:lstStyle/>
          <a:p>
            <a:endParaRPr lang="en-CA"/>
          </a:p>
        </p:txBody>
      </p:sp>
      <p:sp>
        <p:nvSpPr>
          <p:cNvPr id="9" name="Text 6"/>
          <p:cNvSpPr txBox="1"/>
          <p:nvPr/>
        </p:nvSpPr>
        <p:spPr>
          <a:xfrm>
            <a:off x="548640" y="4800600"/>
            <a:ext cx="59436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RT</a:t>
            </a:r>
            <a:endParaRPr lang="en-US" sz="1600" dirty="0"/>
          </a:p>
        </p:txBody>
      </p:sp>
      <p:sp>
        <p:nvSpPr>
          <p:cNvPr id="10" name="Text 7"/>
          <p:cNvSpPr txBox="1"/>
          <p:nvPr/>
        </p:nvSpPr>
        <p:spPr>
          <a:xfrm>
            <a:off x="1280160" y="4800600"/>
            <a:ext cx="1280160" cy="594360"/>
          </a:xfrm>
          <a:prstGeom prst="rect">
            <a:avLst/>
          </a:prstGeom>
          <a:noFill/>
          <a:ln/>
        </p:spPr>
        <p:txBody>
          <a:bodyPr wrap="square" lIns="0" tIns="0" rIns="0" bIns="0" rtlCol="0" anchor="ctr"/>
          <a:lstStyle/>
          <a:p>
            <a:pPr marL="0" indent="0">
              <a:buNone/>
            </a:pPr>
            <a:r>
              <a:rPr lang="en-US" sz="1400" b="1" dirty="0">
                <a:solidFill>
                  <a:srgbClr val="1A202C"/>
                </a:solidFill>
                <a:latin typeface="Calibri" pitchFamily="34" charset="0"/>
                <a:ea typeface="Calibri" pitchFamily="34" charset="-122"/>
                <a:cs typeface="Calibri" pitchFamily="34" charset="-120"/>
              </a:rPr>
              <a:t>Back Leg</a:t>
            </a:r>
            <a:endParaRPr lang="en-US" sz="1400" dirty="0"/>
          </a:p>
        </p:txBody>
      </p:sp>
      <p:sp>
        <p:nvSpPr>
          <p:cNvPr id="11" name="Shape 8"/>
          <p:cNvSpPr/>
          <p:nvPr/>
        </p:nvSpPr>
        <p:spPr>
          <a:xfrm>
            <a:off x="2560320" y="4800600"/>
            <a:ext cx="594360" cy="594360"/>
          </a:xfrm>
          <a:prstGeom prst="ellipse">
            <a:avLst/>
          </a:prstGeom>
          <a:solidFill>
            <a:srgbClr val="C8102E"/>
          </a:solidFill>
          <a:ln/>
        </p:spPr>
        <p:txBody>
          <a:bodyPr/>
          <a:lstStyle/>
          <a:p>
            <a:endParaRPr lang="en-CA"/>
          </a:p>
        </p:txBody>
      </p:sp>
      <p:sp>
        <p:nvSpPr>
          <p:cNvPr id="12" name="Text 9"/>
          <p:cNvSpPr txBox="1"/>
          <p:nvPr/>
        </p:nvSpPr>
        <p:spPr>
          <a:xfrm>
            <a:off x="2560320" y="4800600"/>
            <a:ext cx="59436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RB</a:t>
            </a:r>
            <a:endParaRPr lang="en-US" sz="1600" dirty="0"/>
          </a:p>
        </p:txBody>
      </p:sp>
      <p:sp>
        <p:nvSpPr>
          <p:cNvPr id="13" name="Text 10"/>
          <p:cNvSpPr txBox="1"/>
          <p:nvPr/>
        </p:nvSpPr>
        <p:spPr>
          <a:xfrm>
            <a:off x="3291840" y="4800600"/>
            <a:ext cx="1280160" cy="594360"/>
          </a:xfrm>
          <a:prstGeom prst="rect">
            <a:avLst/>
          </a:prstGeom>
          <a:noFill/>
          <a:ln/>
        </p:spPr>
        <p:txBody>
          <a:bodyPr wrap="square" lIns="0" tIns="0" rIns="0" bIns="0" rtlCol="0" anchor="ctr"/>
          <a:lstStyle/>
          <a:p>
            <a:pPr marL="0" indent="0">
              <a:buNone/>
            </a:pPr>
            <a:r>
              <a:rPr lang="en-US" sz="1400" b="1" dirty="0">
                <a:solidFill>
                  <a:srgbClr val="1A202C"/>
                </a:solidFill>
                <a:latin typeface="Calibri" pitchFamily="34" charset="0"/>
                <a:ea typeface="Calibri" pitchFamily="34" charset="-122"/>
                <a:cs typeface="Calibri" pitchFamily="34" charset="-120"/>
              </a:rPr>
              <a:t>Head Target</a:t>
            </a:r>
            <a:endParaRPr lang="en-US" sz="1400" dirty="0"/>
          </a:p>
        </p:txBody>
      </p:sp>
      <p:sp>
        <p:nvSpPr>
          <p:cNvPr id="14" name="Shape 11"/>
          <p:cNvSpPr/>
          <p:nvPr/>
        </p:nvSpPr>
        <p:spPr>
          <a:xfrm>
            <a:off x="4572000" y="4800600"/>
            <a:ext cx="594360" cy="594360"/>
          </a:xfrm>
          <a:prstGeom prst="ellipse">
            <a:avLst/>
          </a:prstGeom>
          <a:solidFill>
            <a:srgbClr val="161E2B"/>
          </a:solidFill>
          <a:ln/>
        </p:spPr>
        <p:txBody>
          <a:bodyPr/>
          <a:lstStyle/>
          <a:p>
            <a:endParaRPr lang="en-CA"/>
          </a:p>
        </p:txBody>
      </p:sp>
      <p:sp>
        <p:nvSpPr>
          <p:cNvPr id="15" name="Text 12"/>
          <p:cNvSpPr txBox="1"/>
          <p:nvPr/>
        </p:nvSpPr>
        <p:spPr>
          <a:xfrm>
            <a:off x="4572000" y="4800600"/>
            <a:ext cx="594360" cy="5943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LB</a:t>
            </a:r>
            <a:endParaRPr lang="en-US" sz="1600" dirty="0"/>
          </a:p>
        </p:txBody>
      </p:sp>
      <p:sp>
        <p:nvSpPr>
          <p:cNvPr id="16" name="Text 13"/>
          <p:cNvSpPr txBox="1"/>
          <p:nvPr/>
        </p:nvSpPr>
        <p:spPr>
          <a:xfrm>
            <a:off x="5303520" y="4800600"/>
            <a:ext cx="1280160" cy="594360"/>
          </a:xfrm>
          <a:prstGeom prst="rect">
            <a:avLst/>
          </a:prstGeom>
          <a:noFill/>
          <a:ln/>
        </p:spPr>
        <p:txBody>
          <a:bodyPr wrap="square" lIns="0" tIns="0" rIns="0" bIns="0" rtlCol="0" anchor="ctr"/>
          <a:lstStyle/>
          <a:p>
            <a:pPr marL="0" indent="0">
              <a:buNone/>
            </a:pPr>
            <a:r>
              <a:rPr lang="en-US" sz="1400" b="1" dirty="0">
                <a:solidFill>
                  <a:srgbClr val="1A202C"/>
                </a:solidFill>
                <a:latin typeface="Calibri" pitchFamily="34" charset="0"/>
                <a:ea typeface="Calibri" pitchFamily="34" charset="-122"/>
                <a:cs typeface="Calibri" pitchFamily="34" charset="-120"/>
              </a:rPr>
              <a:t>Fake Attack</a:t>
            </a:r>
            <a:endParaRPr lang="en-US" sz="1400" dirty="0"/>
          </a:p>
        </p:txBody>
      </p:sp>
      <p:sp>
        <p:nvSpPr>
          <p:cNvPr id="17" name="Text 14"/>
          <p:cNvSpPr txBox="1"/>
          <p:nvPr/>
        </p:nvSpPr>
        <p:spPr>
          <a:xfrm>
            <a:off x="548640" y="5669280"/>
            <a:ext cx="5943600" cy="274320"/>
          </a:xfrm>
          <a:prstGeom prst="rect">
            <a:avLst/>
          </a:prstGeom>
          <a:noFill/>
          <a:ln/>
        </p:spPr>
        <p:txBody>
          <a:bodyPr wrap="square" lIns="0" tIns="0" rIns="0" bIns="0" rtlCol="0" anchor="t"/>
          <a:lstStyle/>
          <a:p>
            <a:pPr marL="0" indent="0">
              <a:buNone/>
            </a:pPr>
            <a:r>
              <a:rPr lang="en-US" sz="1100" i="1" dirty="0">
                <a:solidFill>
                  <a:srgbClr val="5B6475"/>
                </a:solidFill>
                <a:latin typeface="Calibri" pitchFamily="34" charset="0"/>
                <a:ea typeface="Calibri" pitchFamily="34" charset="-122"/>
                <a:cs typeface="Calibri" pitchFamily="34" charset="-120"/>
              </a:rPr>
              <a:t>Xbox Names Shown; PlayStation Maps One to One. Controller Only.</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949440" y="1371600"/>
          <a:ext cx="4693615" cy="2779776"/>
        </p:xfrm>
        <a:graphic>
          <a:graphicData uri="http://schemas.openxmlformats.org/drawingml/2006/table">
            <a:tbl>
              <a:tblPr/>
              <a:tblGrid>
                <a:gridCol w="1920240">
                  <a:extLst>
                    <a:ext uri="{9D8B030D-6E8A-4147-A177-3AD203B41FA5}">
                      <a16:colId xmlns:a16="http://schemas.microsoft.com/office/drawing/2014/main" val="20000"/>
                    </a:ext>
                  </a:extLst>
                </a:gridCol>
                <a:gridCol w="2773375">
                  <a:extLst>
                    <a:ext uri="{9D8B030D-6E8A-4147-A177-3AD203B41FA5}">
                      <a16:colId xmlns:a16="http://schemas.microsoft.com/office/drawing/2014/main" val="20001"/>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Right Stick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extLst>
                  <a:ext uri="{0D108BD9-81ED-4DB2-BD59-A6C34878D82A}">
                    <a16:rowId xmlns:a16="http://schemas.microsoft.com/office/drawing/2014/main" val="10000"/>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Side / Cut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Up</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Roundhouse / Hook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Left or Right</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2"/>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Axe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Quarter Circle Forward, Down</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Spin Side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Down, Then Up</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Spin Hook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RT + Half Circle Down</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00" b="1" dirty="0">
                          <a:solidFill>
                            <a:srgbClr val="1A202C"/>
                          </a:solidFill>
                          <a:latin typeface="Calibri" pitchFamily="34" charset="0"/>
                          <a:ea typeface="Calibri" pitchFamily="34" charset="-122"/>
                          <a:cs typeface="Calibri" pitchFamily="34" charset="-120"/>
                        </a:rPr>
                        <a:t>Tornado Kick</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200" dirty="0">
                          <a:solidFill>
                            <a:srgbClr val="1A202C"/>
                          </a:solidFill>
                          <a:latin typeface="Calibri" pitchFamily="34" charset="0"/>
                          <a:ea typeface="Calibri" pitchFamily="34" charset="-122"/>
                          <a:cs typeface="Calibri" pitchFamily="34" charset="-120"/>
                        </a:rPr>
                        <a:t>Y, Hold LB + Half Circle Down, Release + Half Circle Up</a:t>
                      </a:r>
                      <a:endParaRPr lang="en-US" sz="1200" dirty="0">
                        <a:latin typeface="Calibri" charset="0"/>
                        <a:ea typeface="Calibri" charset="0"/>
                        <a:cs typeface="Calibri" charset="0"/>
                      </a:endParaRPr>
                    </a:p>
                  </a:txBody>
                  <a:tcPr marT="54864" marB="54864">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6"/>
                  </a:ext>
                </a:extLst>
              </a:tr>
            </a:tbl>
          </a:graphicData>
        </a:graphic>
      </p:graphicFrame>
      <p:sp>
        <p:nvSpPr>
          <p:cNvPr id="19" name="Text 15"/>
          <p:cNvSpPr txBox="1"/>
          <p:nvPr/>
        </p:nvSpPr>
        <p:spPr>
          <a:xfrm>
            <a:off x="6949440" y="4800600"/>
            <a:ext cx="4693615" cy="6400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Every Kick Follows One Animation Flow: Bounce → Chamber → Technique → Rechamber → Land → Bounce.</a:t>
            </a:r>
            <a:endParaRPr lang="en-US" sz="1300" dirty="0"/>
          </a:p>
        </p:txBody>
      </p:sp>
      <p:sp>
        <p:nvSpPr>
          <p:cNvPr id="21" name="Text 16"/>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19"/>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AEB6C4"/>
                </a:solidFill>
                <a:latin typeface="Calibri" pitchFamily="34" charset="0"/>
                <a:ea typeface="Calibri" pitchFamily="34" charset="-122"/>
                <a:cs typeface="Calibri" pitchFamily="34" charset="-120"/>
              </a:rPr>
              <a:t>02 · HOW IT PLAYS</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Scoring Like the Real Sport</a:t>
            </a:r>
            <a:endParaRPr lang="en-US" sz="3400" dirty="0"/>
          </a:p>
        </p:txBody>
      </p:sp>
      <p:sp>
        <p:nvSpPr>
          <p:cNvPr id="6" name="Shape 4"/>
          <p:cNvSpPr/>
          <p:nvPr/>
        </p:nvSpPr>
        <p:spPr>
          <a:xfrm>
            <a:off x="548640" y="1417320"/>
            <a:ext cx="2036003" cy="2194560"/>
          </a:xfrm>
          <a:prstGeom prst="roundRect">
            <a:avLst>
              <a:gd name="adj" fmla="val 3593"/>
            </a:avLst>
          </a:prstGeom>
          <a:solidFill>
            <a:srgbClr val="161E2B"/>
          </a:solidFill>
          <a:ln/>
        </p:spPr>
        <p:txBody>
          <a:bodyPr/>
          <a:lstStyle/>
          <a:p>
            <a:endParaRPr lang="en-CA"/>
          </a:p>
        </p:txBody>
      </p:sp>
      <p:sp>
        <p:nvSpPr>
          <p:cNvPr id="7" name="Text 5"/>
          <p:cNvSpPr txBox="1"/>
          <p:nvPr/>
        </p:nvSpPr>
        <p:spPr>
          <a:xfrm>
            <a:off x="548640" y="1600200"/>
            <a:ext cx="2036003" cy="1097280"/>
          </a:xfrm>
          <a:prstGeom prst="rect">
            <a:avLst/>
          </a:prstGeom>
          <a:noFill/>
          <a:ln/>
        </p:spPr>
        <p:txBody>
          <a:bodyPr wrap="square" lIns="0" tIns="0" rIns="0" bIns="0" rtlCol="0" anchor="ctr"/>
          <a:lstStyle/>
          <a:p>
            <a:pPr marL="0" indent="0" algn="ctr">
              <a:buNone/>
            </a:pPr>
            <a:r>
              <a:rPr lang="en-US" sz="6600" b="1" dirty="0">
                <a:solidFill>
                  <a:srgbClr val="6E9BFF"/>
                </a:solidFill>
                <a:latin typeface="Arial" pitchFamily="34" charset="0"/>
                <a:ea typeface="Arial" pitchFamily="34" charset="-122"/>
                <a:cs typeface="Arial" pitchFamily="34" charset="-120"/>
              </a:rPr>
              <a:t>1</a:t>
            </a:r>
            <a:endParaRPr lang="en-US" sz="6600" dirty="0"/>
          </a:p>
        </p:txBody>
      </p:sp>
      <p:sp>
        <p:nvSpPr>
          <p:cNvPr id="8" name="Text 6"/>
          <p:cNvSpPr txBox="1"/>
          <p:nvPr/>
        </p:nvSpPr>
        <p:spPr>
          <a:xfrm>
            <a:off x="548640"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Punch</a:t>
            </a:r>
            <a:endParaRPr lang="en-US" sz="1600" dirty="0"/>
          </a:p>
        </p:txBody>
      </p:sp>
      <p:sp>
        <p:nvSpPr>
          <p:cNvPr id="9" name="Text 7"/>
          <p:cNvSpPr txBox="1"/>
          <p:nvPr/>
        </p:nvSpPr>
        <p:spPr>
          <a:xfrm>
            <a:off x="548640"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Trunk Protector</a:t>
            </a:r>
            <a:endParaRPr lang="en-US" sz="1300" dirty="0"/>
          </a:p>
        </p:txBody>
      </p:sp>
      <p:sp>
        <p:nvSpPr>
          <p:cNvPr id="10" name="Shape 8"/>
          <p:cNvSpPr/>
          <p:nvPr/>
        </p:nvSpPr>
        <p:spPr>
          <a:xfrm>
            <a:off x="2813243" y="1417320"/>
            <a:ext cx="2036003" cy="2194560"/>
          </a:xfrm>
          <a:prstGeom prst="roundRect">
            <a:avLst>
              <a:gd name="adj" fmla="val 3593"/>
            </a:avLst>
          </a:prstGeom>
          <a:solidFill>
            <a:srgbClr val="161E2B"/>
          </a:solidFill>
          <a:ln/>
        </p:spPr>
        <p:txBody>
          <a:bodyPr/>
          <a:lstStyle/>
          <a:p>
            <a:endParaRPr lang="en-CA"/>
          </a:p>
        </p:txBody>
      </p:sp>
      <p:sp>
        <p:nvSpPr>
          <p:cNvPr id="11" name="Text 9"/>
          <p:cNvSpPr txBox="1"/>
          <p:nvPr/>
        </p:nvSpPr>
        <p:spPr>
          <a:xfrm>
            <a:off x="2813243" y="1600200"/>
            <a:ext cx="2036003" cy="1097280"/>
          </a:xfrm>
          <a:prstGeom prst="rect">
            <a:avLst/>
          </a:prstGeom>
          <a:noFill/>
          <a:ln/>
        </p:spPr>
        <p:txBody>
          <a:bodyPr wrap="square" lIns="0" tIns="0" rIns="0" bIns="0" rtlCol="0" anchor="ctr"/>
          <a:lstStyle/>
          <a:p>
            <a:pPr marL="0" indent="0" algn="ctr">
              <a:buNone/>
            </a:pPr>
            <a:r>
              <a:rPr lang="en-US" sz="6600" b="1" dirty="0">
                <a:solidFill>
                  <a:srgbClr val="6E9BFF"/>
                </a:solidFill>
                <a:latin typeface="Arial" pitchFamily="34" charset="0"/>
                <a:ea typeface="Arial" pitchFamily="34" charset="-122"/>
                <a:cs typeface="Arial" pitchFamily="34" charset="-120"/>
              </a:rPr>
              <a:t>2</a:t>
            </a:r>
            <a:endParaRPr lang="en-US" sz="6600" dirty="0"/>
          </a:p>
        </p:txBody>
      </p:sp>
      <p:sp>
        <p:nvSpPr>
          <p:cNvPr id="12" name="Text 10"/>
          <p:cNvSpPr txBox="1"/>
          <p:nvPr/>
        </p:nvSpPr>
        <p:spPr>
          <a:xfrm>
            <a:off x="2813243"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Kick</a:t>
            </a:r>
            <a:endParaRPr lang="en-US" sz="1600" dirty="0"/>
          </a:p>
        </p:txBody>
      </p:sp>
      <p:sp>
        <p:nvSpPr>
          <p:cNvPr id="13" name="Text 11"/>
          <p:cNvSpPr txBox="1"/>
          <p:nvPr/>
        </p:nvSpPr>
        <p:spPr>
          <a:xfrm>
            <a:off x="2813243"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Trunk Protector</a:t>
            </a:r>
            <a:endParaRPr lang="en-US" sz="1300" dirty="0"/>
          </a:p>
        </p:txBody>
      </p:sp>
      <p:sp>
        <p:nvSpPr>
          <p:cNvPr id="14" name="Shape 12"/>
          <p:cNvSpPr/>
          <p:nvPr/>
        </p:nvSpPr>
        <p:spPr>
          <a:xfrm>
            <a:off x="5077846" y="1417320"/>
            <a:ext cx="2036003" cy="2194560"/>
          </a:xfrm>
          <a:prstGeom prst="roundRect">
            <a:avLst>
              <a:gd name="adj" fmla="val 3593"/>
            </a:avLst>
          </a:prstGeom>
          <a:solidFill>
            <a:srgbClr val="161E2B"/>
          </a:solidFill>
          <a:ln/>
        </p:spPr>
        <p:txBody>
          <a:bodyPr/>
          <a:lstStyle/>
          <a:p>
            <a:endParaRPr lang="en-CA"/>
          </a:p>
        </p:txBody>
      </p:sp>
      <p:sp>
        <p:nvSpPr>
          <p:cNvPr id="15" name="Text 13"/>
          <p:cNvSpPr txBox="1"/>
          <p:nvPr/>
        </p:nvSpPr>
        <p:spPr>
          <a:xfrm>
            <a:off x="5077846" y="1600200"/>
            <a:ext cx="2036003" cy="1097280"/>
          </a:xfrm>
          <a:prstGeom prst="rect">
            <a:avLst/>
          </a:prstGeom>
          <a:noFill/>
          <a:ln/>
        </p:spPr>
        <p:txBody>
          <a:bodyPr wrap="square" lIns="0" tIns="0" rIns="0" bIns="0" rtlCol="0" anchor="ctr"/>
          <a:lstStyle/>
          <a:p>
            <a:pPr marL="0" indent="0" algn="ctr">
              <a:buNone/>
            </a:pPr>
            <a:r>
              <a:rPr lang="en-US" sz="6600" b="1" dirty="0">
                <a:solidFill>
                  <a:srgbClr val="FF5A6E"/>
                </a:solidFill>
                <a:latin typeface="Arial" pitchFamily="34" charset="0"/>
                <a:ea typeface="Arial" pitchFamily="34" charset="-122"/>
                <a:cs typeface="Arial" pitchFamily="34" charset="-120"/>
              </a:rPr>
              <a:t>3</a:t>
            </a:r>
            <a:endParaRPr lang="en-US" sz="6600" dirty="0"/>
          </a:p>
        </p:txBody>
      </p:sp>
      <p:sp>
        <p:nvSpPr>
          <p:cNvPr id="16" name="Text 14"/>
          <p:cNvSpPr txBox="1"/>
          <p:nvPr/>
        </p:nvSpPr>
        <p:spPr>
          <a:xfrm>
            <a:off x="5077846"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Kick</a:t>
            </a:r>
            <a:endParaRPr lang="en-US" sz="1600" dirty="0"/>
          </a:p>
        </p:txBody>
      </p:sp>
      <p:sp>
        <p:nvSpPr>
          <p:cNvPr id="17" name="Text 15"/>
          <p:cNvSpPr txBox="1"/>
          <p:nvPr/>
        </p:nvSpPr>
        <p:spPr>
          <a:xfrm>
            <a:off x="5077846"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Head</a:t>
            </a:r>
            <a:endParaRPr lang="en-US" sz="1300" dirty="0"/>
          </a:p>
        </p:txBody>
      </p:sp>
      <p:sp>
        <p:nvSpPr>
          <p:cNvPr id="18" name="Shape 16"/>
          <p:cNvSpPr/>
          <p:nvPr/>
        </p:nvSpPr>
        <p:spPr>
          <a:xfrm>
            <a:off x="7342449" y="1417320"/>
            <a:ext cx="2036003" cy="2194560"/>
          </a:xfrm>
          <a:prstGeom prst="roundRect">
            <a:avLst>
              <a:gd name="adj" fmla="val 3593"/>
            </a:avLst>
          </a:prstGeom>
          <a:solidFill>
            <a:srgbClr val="161E2B"/>
          </a:solidFill>
          <a:ln/>
        </p:spPr>
        <p:txBody>
          <a:bodyPr/>
          <a:lstStyle/>
          <a:p>
            <a:endParaRPr lang="en-CA"/>
          </a:p>
        </p:txBody>
      </p:sp>
      <p:sp>
        <p:nvSpPr>
          <p:cNvPr id="19" name="Text 17"/>
          <p:cNvSpPr txBox="1"/>
          <p:nvPr/>
        </p:nvSpPr>
        <p:spPr>
          <a:xfrm>
            <a:off x="7342449" y="1600200"/>
            <a:ext cx="2036003" cy="1097280"/>
          </a:xfrm>
          <a:prstGeom prst="rect">
            <a:avLst/>
          </a:prstGeom>
          <a:noFill/>
          <a:ln/>
        </p:spPr>
        <p:txBody>
          <a:bodyPr wrap="square" lIns="0" tIns="0" rIns="0" bIns="0" rtlCol="0" anchor="ctr"/>
          <a:lstStyle/>
          <a:p>
            <a:pPr marL="0" indent="0" algn="ctr">
              <a:buNone/>
            </a:pPr>
            <a:r>
              <a:rPr lang="en-US" sz="6600" b="1" dirty="0">
                <a:solidFill>
                  <a:srgbClr val="6E9BFF"/>
                </a:solidFill>
                <a:latin typeface="Arial" pitchFamily="34" charset="0"/>
                <a:ea typeface="Arial" pitchFamily="34" charset="-122"/>
                <a:cs typeface="Arial" pitchFamily="34" charset="-120"/>
              </a:rPr>
              <a:t>4</a:t>
            </a:r>
            <a:endParaRPr lang="en-US" sz="6600" dirty="0"/>
          </a:p>
        </p:txBody>
      </p:sp>
      <p:sp>
        <p:nvSpPr>
          <p:cNvPr id="20" name="Text 18"/>
          <p:cNvSpPr txBox="1"/>
          <p:nvPr/>
        </p:nvSpPr>
        <p:spPr>
          <a:xfrm>
            <a:off x="7342449"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Spinning Kick</a:t>
            </a:r>
            <a:endParaRPr lang="en-US" sz="1600" dirty="0"/>
          </a:p>
        </p:txBody>
      </p:sp>
      <p:sp>
        <p:nvSpPr>
          <p:cNvPr id="21" name="Text 19"/>
          <p:cNvSpPr txBox="1"/>
          <p:nvPr/>
        </p:nvSpPr>
        <p:spPr>
          <a:xfrm>
            <a:off x="7342449"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Trunk Protector</a:t>
            </a:r>
            <a:endParaRPr lang="en-US" sz="1300" dirty="0"/>
          </a:p>
        </p:txBody>
      </p:sp>
      <p:sp>
        <p:nvSpPr>
          <p:cNvPr id="22" name="Shape 20"/>
          <p:cNvSpPr/>
          <p:nvPr/>
        </p:nvSpPr>
        <p:spPr>
          <a:xfrm>
            <a:off x="9607052" y="1417320"/>
            <a:ext cx="2036003" cy="2194560"/>
          </a:xfrm>
          <a:prstGeom prst="roundRect">
            <a:avLst>
              <a:gd name="adj" fmla="val 3593"/>
            </a:avLst>
          </a:prstGeom>
          <a:solidFill>
            <a:srgbClr val="161E2B"/>
          </a:solidFill>
          <a:ln/>
        </p:spPr>
        <p:txBody>
          <a:bodyPr/>
          <a:lstStyle/>
          <a:p>
            <a:endParaRPr lang="en-CA"/>
          </a:p>
        </p:txBody>
      </p:sp>
      <p:sp>
        <p:nvSpPr>
          <p:cNvPr id="23" name="Text 21"/>
          <p:cNvSpPr txBox="1"/>
          <p:nvPr/>
        </p:nvSpPr>
        <p:spPr>
          <a:xfrm>
            <a:off x="9607052" y="1600200"/>
            <a:ext cx="2036003" cy="1097280"/>
          </a:xfrm>
          <a:prstGeom prst="rect">
            <a:avLst/>
          </a:prstGeom>
          <a:noFill/>
          <a:ln/>
        </p:spPr>
        <p:txBody>
          <a:bodyPr wrap="square" lIns="0" tIns="0" rIns="0" bIns="0" rtlCol="0" anchor="ctr"/>
          <a:lstStyle/>
          <a:p>
            <a:pPr marL="0" indent="0" algn="ctr">
              <a:buNone/>
            </a:pPr>
            <a:r>
              <a:rPr lang="en-US" sz="6600" b="1" dirty="0">
                <a:solidFill>
                  <a:srgbClr val="C8102E"/>
                </a:solidFill>
                <a:latin typeface="Arial" pitchFamily="34" charset="0"/>
                <a:ea typeface="Arial" pitchFamily="34" charset="-122"/>
                <a:cs typeface="Arial" pitchFamily="34" charset="-120"/>
              </a:rPr>
              <a:t>6</a:t>
            </a:r>
            <a:endParaRPr lang="en-US" sz="6600" dirty="0"/>
          </a:p>
        </p:txBody>
      </p:sp>
      <p:sp>
        <p:nvSpPr>
          <p:cNvPr id="24" name="Text 22"/>
          <p:cNvSpPr txBox="1"/>
          <p:nvPr/>
        </p:nvSpPr>
        <p:spPr>
          <a:xfrm>
            <a:off x="9607052" y="2743200"/>
            <a:ext cx="2036003" cy="365760"/>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Spinning Kick</a:t>
            </a:r>
            <a:endParaRPr lang="en-US" sz="1600" dirty="0"/>
          </a:p>
        </p:txBody>
      </p:sp>
      <p:sp>
        <p:nvSpPr>
          <p:cNvPr id="25" name="Text 23"/>
          <p:cNvSpPr txBox="1"/>
          <p:nvPr/>
        </p:nvSpPr>
        <p:spPr>
          <a:xfrm>
            <a:off x="9607052" y="3108960"/>
            <a:ext cx="2036003" cy="320040"/>
          </a:xfrm>
          <a:prstGeom prst="rect">
            <a:avLst/>
          </a:prstGeom>
          <a:noFill/>
          <a:ln/>
        </p:spPr>
        <p:txBody>
          <a:bodyPr wrap="square" lIns="0" tIns="0" rIns="0" bIns="0" rtlCol="0" anchor="t"/>
          <a:lstStyle/>
          <a:p>
            <a:pPr marL="0" indent="0" algn="ctr">
              <a:buNone/>
            </a:pPr>
            <a:r>
              <a:rPr lang="en-US" sz="1300" dirty="0">
                <a:solidFill>
                  <a:srgbClr val="AEB6C4"/>
                </a:solidFill>
                <a:latin typeface="Calibri" pitchFamily="34" charset="0"/>
                <a:ea typeface="Calibri" pitchFamily="34" charset="-122"/>
                <a:cs typeface="Calibri" pitchFamily="34" charset="-120"/>
              </a:rPr>
              <a:t>Head</a:t>
            </a:r>
            <a:endParaRPr lang="en-US" sz="1300" dirty="0"/>
          </a:p>
        </p:txBody>
      </p:sp>
      <p:sp>
        <p:nvSpPr>
          <p:cNvPr id="26" name="Text 24"/>
          <p:cNvSpPr txBox="1"/>
          <p:nvPr/>
        </p:nvSpPr>
        <p:spPr>
          <a:xfrm>
            <a:off x="548640"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Best of 3</a:t>
            </a:r>
            <a:endParaRPr lang="en-US" sz="2800" dirty="0"/>
          </a:p>
        </p:txBody>
      </p:sp>
      <p:sp>
        <p:nvSpPr>
          <p:cNvPr id="27" name="Text 25"/>
          <p:cNvSpPr txBox="1"/>
          <p:nvPr/>
        </p:nvSpPr>
        <p:spPr>
          <a:xfrm>
            <a:off x="548640"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Rounds</a:t>
            </a:r>
            <a:endParaRPr lang="en-US" sz="1400" dirty="0"/>
          </a:p>
        </p:txBody>
      </p:sp>
      <p:sp>
        <p:nvSpPr>
          <p:cNvPr id="28" name="Text 26"/>
          <p:cNvSpPr txBox="1"/>
          <p:nvPr/>
        </p:nvSpPr>
        <p:spPr>
          <a:xfrm>
            <a:off x="3322244"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2:00</a:t>
            </a:r>
            <a:endParaRPr lang="en-US" sz="2800" dirty="0"/>
          </a:p>
        </p:txBody>
      </p:sp>
      <p:sp>
        <p:nvSpPr>
          <p:cNvPr id="29" name="Text 27"/>
          <p:cNvSpPr txBox="1"/>
          <p:nvPr/>
        </p:nvSpPr>
        <p:spPr>
          <a:xfrm>
            <a:off x="3322244"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Per Round, 1:00 Break</a:t>
            </a:r>
            <a:endParaRPr lang="en-US" sz="1400" dirty="0"/>
          </a:p>
        </p:txBody>
      </p:sp>
      <p:sp>
        <p:nvSpPr>
          <p:cNvPr id="30" name="Text 28"/>
          <p:cNvSpPr txBox="1"/>
          <p:nvPr/>
        </p:nvSpPr>
        <p:spPr>
          <a:xfrm>
            <a:off x="6095848"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12 pts</a:t>
            </a:r>
            <a:endParaRPr lang="en-US" sz="2800" dirty="0"/>
          </a:p>
        </p:txBody>
      </p:sp>
      <p:sp>
        <p:nvSpPr>
          <p:cNvPr id="31" name="Text 29"/>
          <p:cNvSpPr txBox="1"/>
          <p:nvPr/>
        </p:nvSpPr>
        <p:spPr>
          <a:xfrm>
            <a:off x="6095848"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Gap Ends the Round</a:t>
            </a:r>
            <a:endParaRPr lang="en-US" sz="1400" dirty="0"/>
          </a:p>
        </p:txBody>
      </p:sp>
      <p:sp>
        <p:nvSpPr>
          <p:cNvPr id="32" name="Text 30"/>
          <p:cNvSpPr txBox="1"/>
          <p:nvPr/>
        </p:nvSpPr>
        <p:spPr>
          <a:xfrm>
            <a:off x="8869451" y="4114800"/>
            <a:ext cx="2590724" cy="548640"/>
          </a:xfrm>
          <a:prstGeom prst="rect">
            <a:avLst/>
          </a:prstGeom>
          <a:noFill/>
          <a:ln/>
        </p:spPr>
        <p:txBody>
          <a:bodyPr wrap="square" lIns="0" tIns="0" rIns="0" bIns="0" rtlCol="0" anchor="t"/>
          <a:lstStyle/>
          <a:p>
            <a:pPr marL="0" indent="0">
              <a:buNone/>
            </a:pPr>
            <a:r>
              <a:rPr lang="en-US" sz="2800" b="1" dirty="0">
                <a:solidFill>
                  <a:srgbClr val="FFFFFF"/>
                </a:solidFill>
                <a:latin typeface="Arial" pitchFamily="34" charset="0"/>
                <a:ea typeface="Arial" pitchFamily="34" charset="-122"/>
                <a:cs typeface="Arial" pitchFamily="34" charset="-120"/>
              </a:rPr>
              <a:t>+1</a:t>
            </a:r>
            <a:endParaRPr lang="en-US" sz="2800" dirty="0"/>
          </a:p>
        </p:txBody>
      </p:sp>
      <p:sp>
        <p:nvSpPr>
          <p:cNvPr id="33" name="Text 31"/>
          <p:cNvSpPr txBox="1"/>
          <p:nvPr/>
        </p:nvSpPr>
        <p:spPr>
          <a:xfrm>
            <a:off x="8869451" y="4663440"/>
            <a:ext cx="2590724" cy="320040"/>
          </a:xfrm>
          <a:prstGeom prst="rect">
            <a:avLst/>
          </a:prstGeom>
          <a:noFill/>
          <a:ln/>
        </p:spPr>
        <p:txBody>
          <a:bodyPr wrap="square" lIns="0" tIns="0" rIns="0" bIns="0" rtlCol="0" anchor="t"/>
          <a:lstStyle/>
          <a:p>
            <a:pPr marL="0" indent="0">
              <a:buNone/>
            </a:pPr>
            <a:r>
              <a:rPr lang="en-US" sz="1400" dirty="0">
                <a:solidFill>
                  <a:srgbClr val="AEB6C4"/>
                </a:solidFill>
                <a:latin typeface="Calibri" pitchFamily="34" charset="0"/>
                <a:ea typeface="Calibri" pitchFamily="34" charset="-122"/>
                <a:cs typeface="Calibri" pitchFamily="34" charset="-120"/>
              </a:rPr>
              <a:t>To Opponent per Gam-Jeom</a:t>
            </a:r>
            <a:endParaRPr lang="en-US" sz="1400" dirty="0"/>
          </a:p>
        </p:txBody>
      </p:sp>
      <p:sp>
        <p:nvSpPr>
          <p:cNvPr id="34" name="Text 32"/>
          <p:cNvSpPr txBox="1"/>
          <p:nvPr/>
        </p:nvSpPr>
        <p:spPr>
          <a:xfrm>
            <a:off x="548640" y="5303520"/>
            <a:ext cx="11094415" cy="731520"/>
          </a:xfrm>
          <a:prstGeom prst="rect">
            <a:avLst/>
          </a:prstGeom>
          <a:noFill/>
          <a:ln/>
        </p:spPr>
        <p:txBody>
          <a:bodyPr wrap="square" lIns="0" tIns="0" rIns="0" bIns="0" rtlCol="0" anchor="t"/>
          <a:lstStyle/>
          <a:p>
            <a:pPr marL="0" indent="0">
              <a:buNone/>
            </a:pPr>
            <a:r>
              <a:rPr lang="en-US" sz="1300" dirty="0">
                <a:solidFill>
                  <a:srgbClr val="C9D1DE"/>
                </a:solidFill>
                <a:latin typeface="Calibri" pitchFamily="34" charset="0"/>
                <a:ea typeface="Calibri" pitchFamily="34" charset="-122"/>
                <a:cs typeface="Calibri" pitchFamily="34" charset="-120"/>
              </a:rPr>
              <a:t>A Hit Counts Only When the Attacking Limb Reaches the Target Zone During Its Active Phase with Enough Impact, the Way the Electronic Protector System (PSS) Scores. Penalties Cover Stepping Out, Falling, Stalling, Leg-Lift Blocking, Low Kicks and Holding.</a:t>
            </a:r>
            <a:endParaRPr lang="en-US" sz="1300" dirty="0"/>
          </a:p>
        </p:txBody>
      </p:sp>
      <p:sp>
        <p:nvSpPr>
          <p:cNvPr id="35" name="Text 33"/>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8792A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03 · MODES AND PROGRESSION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Game Modes</a:t>
            </a:r>
            <a:endParaRPr lang="en-US" sz="3400" dirty="0"/>
          </a:p>
        </p:txBody>
      </p:sp>
      <p:sp>
        <p:nvSpPr>
          <p:cNvPr id="6" name="Shape 4"/>
          <p:cNvSpPr/>
          <p:nvPr/>
        </p:nvSpPr>
        <p:spPr>
          <a:xfrm>
            <a:off x="548640" y="1325880"/>
            <a:ext cx="2670734" cy="548640"/>
          </a:xfrm>
          <a:prstGeom prst="chevron">
            <a:avLst/>
          </a:prstGeom>
          <a:solidFill>
            <a:srgbClr val="1F5BC4"/>
          </a:solidFill>
          <a:ln/>
        </p:spPr>
        <p:txBody>
          <a:bodyPr/>
          <a:lstStyle/>
          <a:p>
            <a:endParaRPr lang="en-CA"/>
          </a:p>
        </p:txBody>
      </p:sp>
      <p:sp>
        <p:nvSpPr>
          <p:cNvPr id="7" name="Text 5"/>
          <p:cNvSpPr txBox="1"/>
          <p:nvPr/>
        </p:nvSpPr>
        <p:spPr>
          <a:xfrm>
            <a:off x="822960"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Training Lessons</a:t>
            </a:r>
            <a:endParaRPr lang="en-US" sz="1400" dirty="0"/>
          </a:p>
        </p:txBody>
      </p:sp>
      <p:sp>
        <p:nvSpPr>
          <p:cNvPr id="8" name="Shape 6"/>
          <p:cNvSpPr/>
          <p:nvPr/>
        </p:nvSpPr>
        <p:spPr>
          <a:xfrm>
            <a:off x="3356534" y="1325880"/>
            <a:ext cx="2670734" cy="548640"/>
          </a:xfrm>
          <a:prstGeom prst="chevron">
            <a:avLst/>
          </a:prstGeom>
          <a:solidFill>
            <a:srgbClr val="1F5BC4"/>
          </a:solidFill>
          <a:ln/>
        </p:spPr>
        <p:txBody>
          <a:bodyPr/>
          <a:lstStyle/>
          <a:p>
            <a:endParaRPr lang="en-CA"/>
          </a:p>
        </p:txBody>
      </p:sp>
      <p:sp>
        <p:nvSpPr>
          <p:cNvPr id="9" name="Text 7"/>
          <p:cNvSpPr txBox="1"/>
          <p:nvPr/>
        </p:nvSpPr>
        <p:spPr>
          <a:xfrm>
            <a:off x="3630854"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Sparring vs AI</a:t>
            </a:r>
            <a:endParaRPr lang="en-US" sz="1400" dirty="0"/>
          </a:p>
        </p:txBody>
      </p:sp>
      <p:sp>
        <p:nvSpPr>
          <p:cNvPr id="10" name="Shape 8"/>
          <p:cNvSpPr/>
          <p:nvPr/>
        </p:nvSpPr>
        <p:spPr>
          <a:xfrm>
            <a:off x="6164428" y="1325880"/>
            <a:ext cx="2670734" cy="548640"/>
          </a:xfrm>
          <a:prstGeom prst="chevron">
            <a:avLst/>
          </a:prstGeom>
          <a:solidFill>
            <a:srgbClr val="1F5BC4"/>
          </a:solidFill>
          <a:ln/>
        </p:spPr>
        <p:txBody>
          <a:bodyPr/>
          <a:lstStyle/>
          <a:p>
            <a:endParaRPr lang="en-CA"/>
          </a:p>
        </p:txBody>
      </p:sp>
      <p:sp>
        <p:nvSpPr>
          <p:cNvPr id="11" name="Text 9"/>
          <p:cNvSpPr txBox="1"/>
          <p:nvPr/>
        </p:nvSpPr>
        <p:spPr>
          <a:xfrm>
            <a:off x="6438748"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Local Versus</a:t>
            </a:r>
            <a:endParaRPr lang="en-US" sz="1400" dirty="0"/>
          </a:p>
        </p:txBody>
      </p:sp>
      <p:sp>
        <p:nvSpPr>
          <p:cNvPr id="12" name="Shape 10"/>
          <p:cNvSpPr/>
          <p:nvPr/>
        </p:nvSpPr>
        <p:spPr>
          <a:xfrm>
            <a:off x="8972321" y="1325880"/>
            <a:ext cx="2670734" cy="548640"/>
          </a:xfrm>
          <a:prstGeom prst="chevron">
            <a:avLst/>
          </a:prstGeom>
          <a:solidFill>
            <a:srgbClr val="C8102E"/>
          </a:solidFill>
          <a:ln/>
        </p:spPr>
        <p:txBody>
          <a:bodyPr/>
          <a:lstStyle/>
          <a:p>
            <a:endParaRPr lang="en-CA"/>
          </a:p>
        </p:txBody>
      </p:sp>
      <p:sp>
        <p:nvSpPr>
          <p:cNvPr id="13" name="Text 11"/>
          <p:cNvSpPr txBox="1"/>
          <p:nvPr/>
        </p:nvSpPr>
        <p:spPr>
          <a:xfrm>
            <a:off x="9246641" y="1325880"/>
            <a:ext cx="2122094"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Career</a:t>
            </a:r>
            <a:endParaRPr lang="en-US" sz="1400" dirty="0"/>
          </a:p>
        </p:txBody>
      </p:sp>
      <p:sp>
        <p:nvSpPr>
          <p:cNvPr id="14" name="Shape 12"/>
          <p:cNvSpPr/>
          <p:nvPr/>
        </p:nvSpPr>
        <p:spPr>
          <a:xfrm>
            <a:off x="548640" y="2148840"/>
            <a:ext cx="2670734" cy="2148840"/>
          </a:xfrm>
          <a:prstGeom prst="roundRect">
            <a:avLst>
              <a:gd name="adj" fmla="val 3404"/>
            </a:avLst>
          </a:prstGeom>
          <a:solidFill>
            <a:srgbClr val="F2F4F8"/>
          </a:solidFill>
          <a:ln/>
        </p:spPr>
        <p:txBody>
          <a:bodyPr/>
          <a:lstStyle/>
          <a:p>
            <a:endParaRPr lang="en-CA"/>
          </a:p>
        </p:txBody>
      </p:sp>
      <p:sp>
        <p:nvSpPr>
          <p:cNvPr id="15" name="Text 13"/>
          <p:cNvSpPr txBox="1"/>
          <p:nvPr/>
        </p:nvSpPr>
        <p:spPr>
          <a:xfrm>
            <a:off x="777240"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Training</a:t>
            </a:r>
            <a:endParaRPr lang="en-US" sz="1800" dirty="0"/>
          </a:p>
        </p:txBody>
      </p:sp>
      <p:sp>
        <p:nvSpPr>
          <p:cNvPr id="16" name="Text 14"/>
          <p:cNvSpPr txBox="1"/>
          <p:nvPr/>
        </p:nvSpPr>
        <p:spPr>
          <a:xfrm>
            <a:off x="777240" y="2743200"/>
            <a:ext cx="2213534" cy="274320"/>
          </a:xfrm>
          <a:prstGeom prst="rect">
            <a:avLst/>
          </a:prstGeom>
          <a:noFill/>
          <a:ln/>
        </p:spPr>
        <p:txBody>
          <a:bodyPr wrap="square" lIns="0" tIns="0" rIns="0" bIns="0" rtlCol="0" anchor="t"/>
          <a:lstStyle/>
          <a:p>
            <a:pPr marL="0" indent="0">
              <a:buNone/>
            </a:pPr>
            <a:r>
              <a:rPr lang="en-US" sz="1200" b="1" dirty="0">
                <a:solidFill>
                  <a:srgbClr val="1F5BC4"/>
                </a:solidFill>
                <a:latin typeface="Malgun Gothic" pitchFamily="34" charset="0"/>
                <a:ea typeface="Malgun Gothic" pitchFamily="34" charset="-122"/>
                <a:cs typeface="Malgun Gothic" pitchFamily="34" charset="-120"/>
              </a:rPr>
              <a:t>도장 Dojang</a:t>
            </a:r>
            <a:endParaRPr lang="en-US" sz="1200" dirty="0"/>
          </a:p>
        </p:txBody>
      </p:sp>
      <p:sp>
        <p:nvSpPr>
          <p:cNvPr id="17" name="Text 15"/>
          <p:cNvSpPr txBox="1"/>
          <p:nvPr/>
        </p:nvSpPr>
        <p:spPr>
          <a:xfrm>
            <a:off x="777240"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Six Guided Lessons, Graded Drills (Paddles, Reaction Targets) and Free Practice with Input Display.</a:t>
            </a:r>
            <a:endParaRPr lang="en-US" sz="1300" dirty="0"/>
          </a:p>
        </p:txBody>
      </p:sp>
      <p:sp>
        <p:nvSpPr>
          <p:cNvPr id="18" name="Shape 16"/>
          <p:cNvSpPr/>
          <p:nvPr/>
        </p:nvSpPr>
        <p:spPr>
          <a:xfrm>
            <a:off x="3356534" y="2148840"/>
            <a:ext cx="2670734" cy="2148840"/>
          </a:xfrm>
          <a:prstGeom prst="roundRect">
            <a:avLst>
              <a:gd name="adj" fmla="val 3404"/>
            </a:avLst>
          </a:prstGeom>
          <a:solidFill>
            <a:srgbClr val="F2F4F8"/>
          </a:solidFill>
          <a:ln/>
        </p:spPr>
        <p:txBody>
          <a:bodyPr/>
          <a:lstStyle/>
          <a:p>
            <a:endParaRPr lang="en-CA"/>
          </a:p>
        </p:txBody>
      </p:sp>
      <p:sp>
        <p:nvSpPr>
          <p:cNvPr id="19" name="Text 17"/>
          <p:cNvSpPr txBox="1"/>
          <p:nvPr/>
        </p:nvSpPr>
        <p:spPr>
          <a:xfrm>
            <a:off x="3585134"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Sparring</a:t>
            </a:r>
            <a:endParaRPr lang="en-US" sz="1800" dirty="0"/>
          </a:p>
        </p:txBody>
      </p:sp>
      <p:sp>
        <p:nvSpPr>
          <p:cNvPr id="20" name="Text 18"/>
          <p:cNvSpPr txBox="1"/>
          <p:nvPr/>
        </p:nvSpPr>
        <p:spPr>
          <a:xfrm>
            <a:off x="3585134" y="2743200"/>
            <a:ext cx="2213534" cy="274320"/>
          </a:xfrm>
          <a:prstGeom prst="rect">
            <a:avLst/>
          </a:prstGeom>
          <a:noFill/>
          <a:ln/>
        </p:spPr>
        <p:txBody>
          <a:bodyPr wrap="square" lIns="0" tIns="0" rIns="0" bIns="0" rtlCol="0" anchor="t"/>
          <a:lstStyle/>
          <a:p>
            <a:pPr marL="0" indent="0">
              <a:buNone/>
            </a:pPr>
            <a:r>
              <a:rPr lang="en-US" sz="1200" b="1" dirty="0">
                <a:solidFill>
                  <a:srgbClr val="1F5BC4"/>
                </a:solidFill>
                <a:latin typeface="Calibri" pitchFamily="34" charset="0"/>
                <a:ea typeface="Calibri" pitchFamily="34" charset="-122"/>
                <a:cs typeface="Calibri" pitchFamily="34" charset="-120"/>
              </a:rPr>
              <a:t>Single Match</a:t>
            </a:r>
            <a:endParaRPr lang="en-US" sz="1200" dirty="0"/>
          </a:p>
        </p:txBody>
      </p:sp>
      <p:sp>
        <p:nvSpPr>
          <p:cNvPr id="21" name="Text 19"/>
          <p:cNvSpPr txBox="1"/>
          <p:nvPr/>
        </p:nvSpPr>
        <p:spPr>
          <a:xfrm>
            <a:off x="3585134"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Player vs Player or vs AI. All Techniques Unlocked; Equal Terms Attributes by Default.</a:t>
            </a:r>
            <a:endParaRPr lang="en-US" sz="1300" dirty="0"/>
          </a:p>
        </p:txBody>
      </p:sp>
      <p:sp>
        <p:nvSpPr>
          <p:cNvPr id="22" name="Shape 20"/>
          <p:cNvSpPr/>
          <p:nvPr/>
        </p:nvSpPr>
        <p:spPr>
          <a:xfrm>
            <a:off x="6164428" y="2148840"/>
            <a:ext cx="2670734" cy="2148840"/>
          </a:xfrm>
          <a:prstGeom prst="roundRect">
            <a:avLst>
              <a:gd name="adj" fmla="val 3404"/>
            </a:avLst>
          </a:prstGeom>
          <a:solidFill>
            <a:srgbClr val="F2F4F8"/>
          </a:solidFill>
          <a:ln/>
        </p:spPr>
        <p:txBody>
          <a:bodyPr/>
          <a:lstStyle/>
          <a:p>
            <a:endParaRPr lang="en-CA"/>
          </a:p>
        </p:txBody>
      </p:sp>
      <p:sp>
        <p:nvSpPr>
          <p:cNvPr id="23" name="Text 21"/>
          <p:cNvSpPr txBox="1"/>
          <p:nvPr/>
        </p:nvSpPr>
        <p:spPr>
          <a:xfrm>
            <a:off x="6393028"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Tournament</a:t>
            </a:r>
            <a:endParaRPr lang="en-US" sz="1800" dirty="0"/>
          </a:p>
        </p:txBody>
      </p:sp>
      <p:sp>
        <p:nvSpPr>
          <p:cNvPr id="24" name="Text 22"/>
          <p:cNvSpPr txBox="1"/>
          <p:nvPr/>
        </p:nvSpPr>
        <p:spPr>
          <a:xfrm>
            <a:off x="6393028" y="2743200"/>
            <a:ext cx="2213534" cy="274320"/>
          </a:xfrm>
          <a:prstGeom prst="rect">
            <a:avLst/>
          </a:prstGeom>
          <a:noFill/>
          <a:ln/>
        </p:spPr>
        <p:txBody>
          <a:bodyPr wrap="square" lIns="0" tIns="0" rIns="0" bIns="0" rtlCol="0" anchor="t"/>
          <a:lstStyle/>
          <a:p>
            <a:pPr marL="0" indent="0">
              <a:buNone/>
            </a:pPr>
            <a:r>
              <a:rPr lang="en-US" sz="1200" b="1" dirty="0">
                <a:solidFill>
                  <a:srgbClr val="1F5BC4"/>
                </a:solidFill>
                <a:latin typeface="Calibri" pitchFamily="34" charset="0"/>
                <a:ea typeface="Calibri" pitchFamily="34" charset="-122"/>
                <a:cs typeface="Calibri" pitchFamily="34" charset="-120"/>
              </a:rPr>
              <a:t>Local Brackets</a:t>
            </a:r>
            <a:endParaRPr lang="en-US" sz="1200" dirty="0"/>
          </a:p>
        </p:txBody>
      </p:sp>
      <p:sp>
        <p:nvSpPr>
          <p:cNvPr id="25" name="Text 23"/>
          <p:cNvSpPr txBox="1"/>
          <p:nvPr/>
        </p:nvSpPr>
        <p:spPr>
          <a:xfrm>
            <a:off x="6393028"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Single Elimination of 8, 16 or 32. AI Fills Empty Slots, So One Player Can Run a Full Bracket.</a:t>
            </a:r>
            <a:endParaRPr lang="en-US" sz="1300" dirty="0"/>
          </a:p>
        </p:txBody>
      </p:sp>
      <p:sp>
        <p:nvSpPr>
          <p:cNvPr id="26" name="Shape 24"/>
          <p:cNvSpPr/>
          <p:nvPr/>
        </p:nvSpPr>
        <p:spPr>
          <a:xfrm>
            <a:off x="8972321" y="2148840"/>
            <a:ext cx="2670734" cy="2148840"/>
          </a:xfrm>
          <a:prstGeom prst="roundRect">
            <a:avLst>
              <a:gd name="adj" fmla="val 3404"/>
            </a:avLst>
          </a:prstGeom>
          <a:solidFill>
            <a:srgbClr val="F2F4F8"/>
          </a:solidFill>
          <a:ln/>
        </p:spPr>
        <p:txBody>
          <a:bodyPr/>
          <a:lstStyle/>
          <a:p>
            <a:endParaRPr lang="en-CA"/>
          </a:p>
        </p:txBody>
      </p:sp>
      <p:sp>
        <p:nvSpPr>
          <p:cNvPr id="27" name="Text 25"/>
          <p:cNvSpPr txBox="1"/>
          <p:nvPr/>
        </p:nvSpPr>
        <p:spPr>
          <a:xfrm>
            <a:off x="9200921" y="2377440"/>
            <a:ext cx="2213534"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Career</a:t>
            </a:r>
            <a:endParaRPr lang="en-US" sz="1800" dirty="0"/>
          </a:p>
        </p:txBody>
      </p:sp>
      <p:sp>
        <p:nvSpPr>
          <p:cNvPr id="28" name="Text 26"/>
          <p:cNvSpPr txBox="1"/>
          <p:nvPr/>
        </p:nvSpPr>
        <p:spPr>
          <a:xfrm>
            <a:off x="9200921" y="2743200"/>
            <a:ext cx="2213534" cy="274320"/>
          </a:xfrm>
          <a:prstGeom prst="rect">
            <a:avLst/>
          </a:prstGeom>
          <a:noFill/>
          <a:ln/>
        </p:spPr>
        <p:txBody>
          <a:bodyPr wrap="square" lIns="0" tIns="0" rIns="0" bIns="0" rtlCol="0" anchor="t"/>
          <a:lstStyle/>
          <a:p>
            <a:pPr marL="0" indent="0">
              <a:buNone/>
            </a:pPr>
            <a:r>
              <a:rPr lang="en-US" sz="1200" b="1" dirty="0">
                <a:solidFill>
                  <a:srgbClr val="C8102E"/>
                </a:solidFill>
                <a:latin typeface="Calibri" pitchFamily="34" charset="0"/>
                <a:ea typeface="Calibri" pitchFamily="34" charset="-122"/>
                <a:cs typeface="Calibri" pitchFamily="34" charset="-120"/>
              </a:rPr>
              <a:t>Season Mode</a:t>
            </a:r>
            <a:endParaRPr lang="en-US" sz="1200" dirty="0"/>
          </a:p>
        </p:txBody>
      </p:sp>
      <p:sp>
        <p:nvSpPr>
          <p:cNvPr id="29" name="Text 27"/>
          <p:cNvSpPr txBox="1"/>
          <p:nvPr/>
        </p:nvSpPr>
        <p:spPr>
          <a:xfrm>
            <a:off x="9200921" y="3108960"/>
            <a:ext cx="2213534" cy="146304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Created Fighter Goes from White Belt at a Local Club to the World Series Final.</a:t>
            </a:r>
            <a:endParaRPr lang="en-US" sz="1300" dirty="0"/>
          </a:p>
        </p:txBody>
      </p:sp>
      <p:sp>
        <p:nvSpPr>
          <p:cNvPr id="30" name="Text 28"/>
          <p:cNvSpPr txBox="1"/>
          <p:nvPr/>
        </p:nvSpPr>
        <p:spPr>
          <a:xfrm>
            <a:off x="548640" y="4617720"/>
            <a:ext cx="3657600" cy="320040"/>
          </a:xfrm>
          <a:prstGeom prst="rect">
            <a:avLst/>
          </a:prstGeom>
          <a:noFill/>
          <a:ln/>
        </p:spPr>
        <p:txBody>
          <a:bodyPr wrap="square" lIns="0" tIns="0" rIns="0" bIns="0" rtlCol="0" anchor="t"/>
          <a:lstStyle/>
          <a:p>
            <a:pPr marL="0" indent="0">
              <a:buNone/>
            </a:pPr>
            <a:r>
              <a:rPr lang="en-US" sz="1500" b="1" dirty="0">
                <a:solidFill>
                  <a:srgbClr val="5B6475"/>
                </a:solidFill>
                <a:latin typeface="Arial" pitchFamily="34" charset="0"/>
                <a:ea typeface="Arial" pitchFamily="34" charset="-122"/>
                <a:cs typeface="Arial" pitchFamily="34" charset="-120"/>
              </a:rPr>
              <a:t>Future, After v1.0</a:t>
            </a:r>
            <a:endParaRPr lang="en-US" sz="1500" dirty="0"/>
          </a:p>
        </p:txBody>
      </p:sp>
      <p:sp>
        <p:nvSpPr>
          <p:cNvPr id="31" name="Text 29"/>
          <p:cNvSpPr txBox="1"/>
          <p:nvPr/>
        </p:nvSpPr>
        <p:spPr>
          <a:xfrm>
            <a:off x="548640" y="4983480"/>
            <a:ext cx="11094415" cy="365760"/>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Online Casual and Ranked · Team Championship · Challenges · Para Taekwondo · Replays and Broadcast Tools · Referee Mode</a:t>
            </a:r>
            <a:endParaRPr lang="en-US" sz="1400" dirty="0"/>
          </a:p>
        </p:txBody>
      </p:sp>
      <p:sp>
        <p:nvSpPr>
          <p:cNvPr id="32" name="Text 30"/>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03 · MODES AND PROGRESSION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Career: White Belt to World Final</a:t>
            </a:r>
            <a:endParaRPr lang="en-US" sz="3400" dirty="0"/>
          </a:p>
        </p:txBody>
      </p:sp>
      <p:sp>
        <p:nvSpPr>
          <p:cNvPr id="6" name="Shape 4"/>
          <p:cNvSpPr/>
          <p:nvPr/>
        </p:nvSpPr>
        <p:spPr>
          <a:xfrm>
            <a:off x="548640" y="4983480"/>
            <a:ext cx="868680" cy="1005840"/>
          </a:xfrm>
          <a:prstGeom prst="rect">
            <a:avLst/>
          </a:prstGeom>
          <a:solidFill>
            <a:srgbClr val="1F5BC4"/>
          </a:solidFill>
          <a:ln/>
        </p:spPr>
        <p:txBody>
          <a:bodyPr/>
          <a:lstStyle/>
          <a:p>
            <a:endParaRPr lang="en-CA"/>
          </a:p>
        </p:txBody>
      </p:sp>
      <p:sp>
        <p:nvSpPr>
          <p:cNvPr id="7" name="Text 5"/>
          <p:cNvSpPr txBox="1"/>
          <p:nvPr/>
        </p:nvSpPr>
        <p:spPr>
          <a:xfrm>
            <a:off x="548640" y="5074920"/>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8" name="Text 6"/>
          <p:cNvSpPr txBox="1"/>
          <p:nvPr/>
        </p:nvSpPr>
        <p:spPr>
          <a:xfrm>
            <a:off x="603504" y="5486400"/>
            <a:ext cx="758952" cy="45720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Club Night</a:t>
            </a:r>
            <a:endParaRPr lang="en-US" sz="1100" dirty="0"/>
          </a:p>
        </p:txBody>
      </p:sp>
      <p:sp>
        <p:nvSpPr>
          <p:cNvPr id="9" name="Text 7"/>
          <p:cNvSpPr txBox="1"/>
          <p:nvPr/>
        </p:nvSpPr>
        <p:spPr>
          <a:xfrm>
            <a:off x="502920"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Any Rank</a:t>
            </a:r>
            <a:endParaRPr lang="en-US" sz="1000" dirty="0"/>
          </a:p>
        </p:txBody>
      </p:sp>
      <p:sp>
        <p:nvSpPr>
          <p:cNvPr id="10" name="Shape 8"/>
          <p:cNvSpPr/>
          <p:nvPr/>
        </p:nvSpPr>
        <p:spPr>
          <a:xfrm>
            <a:off x="1527048" y="4416552"/>
            <a:ext cx="868680" cy="1572768"/>
          </a:xfrm>
          <a:prstGeom prst="rect">
            <a:avLst/>
          </a:prstGeom>
          <a:solidFill>
            <a:srgbClr val="1F5BC4"/>
          </a:solidFill>
          <a:ln/>
        </p:spPr>
        <p:txBody>
          <a:bodyPr/>
          <a:lstStyle/>
          <a:p>
            <a:endParaRPr lang="en-CA"/>
          </a:p>
        </p:txBody>
      </p:sp>
      <p:sp>
        <p:nvSpPr>
          <p:cNvPr id="11" name="Text 9"/>
          <p:cNvSpPr txBox="1"/>
          <p:nvPr/>
        </p:nvSpPr>
        <p:spPr>
          <a:xfrm>
            <a:off x="1527048" y="4507992"/>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2" name="Text 10"/>
          <p:cNvSpPr txBox="1"/>
          <p:nvPr/>
        </p:nvSpPr>
        <p:spPr>
          <a:xfrm>
            <a:off x="1581912" y="4919472"/>
            <a:ext cx="758952" cy="1024128"/>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City Open</a:t>
            </a:r>
            <a:endParaRPr lang="en-US" sz="1100" dirty="0"/>
          </a:p>
        </p:txBody>
      </p:sp>
      <p:sp>
        <p:nvSpPr>
          <p:cNvPr id="13" name="Text 11"/>
          <p:cNvSpPr txBox="1"/>
          <p:nvPr/>
        </p:nvSpPr>
        <p:spPr>
          <a:xfrm>
            <a:off x="1481328"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Yellow Belt</a:t>
            </a:r>
            <a:endParaRPr lang="en-US" sz="1000" dirty="0"/>
          </a:p>
        </p:txBody>
      </p:sp>
      <p:sp>
        <p:nvSpPr>
          <p:cNvPr id="14" name="Shape 12"/>
          <p:cNvSpPr/>
          <p:nvPr/>
        </p:nvSpPr>
        <p:spPr>
          <a:xfrm>
            <a:off x="2505456" y="3849624"/>
            <a:ext cx="868680" cy="2139696"/>
          </a:xfrm>
          <a:prstGeom prst="rect">
            <a:avLst/>
          </a:prstGeom>
          <a:solidFill>
            <a:srgbClr val="1F5BC4"/>
          </a:solidFill>
          <a:ln/>
        </p:spPr>
        <p:txBody>
          <a:bodyPr/>
          <a:lstStyle/>
          <a:p>
            <a:endParaRPr lang="en-CA"/>
          </a:p>
        </p:txBody>
      </p:sp>
      <p:sp>
        <p:nvSpPr>
          <p:cNvPr id="15" name="Text 13"/>
          <p:cNvSpPr txBox="1"/>
          <p:nvPr/>
        </p:nvSpPr>
        <p:spPr>
          <a:xfrm>
            <a:off x="2505456" y="3941064"/>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6" name="Text 14"/>
          <p:cNvSpPr txBox="1"/>
          <p:nvPr/>
        </p:nvSpPr>
        <p:spPr>
          <a:xfrm>
            <a:off x="2560320" y="4352544"/>
            <a:ext cx="758952" cy="1591056"/>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Provincials</a:t>
            </a:r>
            <a:endParaRPr lang="en-US" sz="1100" dirty="0"/>
          </a:p>
        </p:txBody>
      </p:sp>
      <p:sp>
        <p:nvSpPr>
          <p:cNvPr id="17" name="Text 15"/>
          <p:cNvSpPr txBox="1"/>
          <p:nvPr/>
        </p:nvSpPr>
        <p:spPr>
          <a:xfrm>
            <a:off x="2459736"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Green Belt</a:t>
            </a:r>
            <a:endParaRPr lang="en-US" sz="1000" dirty="0"/>
          </a:p>
        </p:txBody>
      </p:sp>
      <p:sp>
        <p:nvSpPr>
          <p:cNvPr id="18" name="Shape 16"/>
          <p:cNvSpPr/>
          <p:nvPr/>
        </p:nvSpPr>
        <p:spPr>
          <a:xfrm>
            <a:off x="3483864" y="3282696"/>
            <a:ext cx="868680" cy="2706624"/>
          </a:xfrm>
          <a:prstGeom prst="rect">
            <a:avLst/>
          </a:prstGeom>
          <a:solidFill>
            <a:srgbClr val="1F5BC4"/>
          </a:solidFill>
          <a:ln/>
        </p:spPr>
        <p:txBody>
          <a:bodyPr/>
          <a:lstStyle/>
          <a:p>
            <a:endParaRPr lang="en-CA"/>
          </a:p>
        </p:txBody>
      </p:sp>
      <p:sp>
        <p:nvSpPr>
          <p:cNvPr id="19" name="Text 17"/>
          <p:cNvSpPr txBox="1"/>
          <p:nvPr/>
        </p:nvSpPr>
        <p:spPr>
          <a:xfrm>
            <a:off x="3483864" y="3374136"/>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0" name="Text 18"/>
          <p:cNvSpPr txBox="1"/>
          <p:nvPr/>
        </p:nvSpPr>
        <p:spPr>
          <a:xfrm>
            <a:off x="3538728" y="3785616"/>
            <a:ext cx="758952" cy="2157984"/>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Nationals</a:t>
            </a:r>
            <a:endParaRPr lang="en-US" sz="1100" dirty="0"/>
          </a:p>
        </p:txBody>
      </p:sp>
      <p:sp>
        <p:nvSpPr>
          <p:cNvPr id="21" name="Text 19"/>
          <p:cNvSpPr txBox="1"/>
          <p:nvPr/>
        </p:nvSpPr>
        <p:spPr>
          <a:xfrm>
            <a:off x="3438144"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Blue Belt</a:t>
            </a:r>
            <a:endParaRPr lang="en-US" sz="1000" dirty="0"/>
          </a:p>
        </p:txBody>
      </p:sp>
      <p:sp>
        <p:nvSpPr>
          <p:cNvPr id="22" name="Shape 20"/>
          <p:cNvSpPr/>
          <p:nvPr/>
        </p:nvSpPr>
        <p:spPr>
          <a:xfrm>
            <a:off x="4462272" y="2715768"/>
            <a:ext cx="868680" cy="3273552"/>
          </a:xfrm>
          <a:prstGeom prst="rect">
            <a:avLst/>
          </a:prstGeom>
          <a:solidFill>
            <a:srgbClr val="1F5BC4"/>
          </a:solidFill>
          <a:ln/>
        </p:spPr>
        <p:txBody>
          <a:bodyPr/>
          <a:lstStyle/>
          <a:p>
            <a:endParaRPr lang="en-CA"/>
          </a:p>
        </p:txBody>
      </p:sp>
      <p:sp>
        <p:nvSpPr>
          <p:cNvPr id="23" name="Text 21"/>
          <p:cNvSpPr txBox="1"/>
          <p:nvPr/>
        </p:nvSpPr>
        <p:spPr>
          <a:xfrm>
            <a:off x="4462272" y="2807208"/>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4" name="Text 22"/>
          <p:cNvSpPr txBox="1"/>
          <p:nvPr/>
        </p:nvSpPr>
        <p:spPr>
          <a:xfrm>
            <a:off x="4517136" y="3218688"/>
            <a:ext cx="758952" cy="2724912"/>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Continental Open</a:t>
            </a:r>
            <a:endParaRPr lang="en-US" sz="1100" dirty="0"/>
          </a:p>
        </p:txBody>
      </p:sp>
      <p:sp>
        <p:nvSpPr>
          <p:cNvPr id="25" name="Text 23"/>
          <p:cNvSpPr txBox="1"/>
          <p:nvPr/>
        </p:nvSpPr>
        <p:spPr>
          <a:xfrm>
            <a:off x="4416552"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Black Belt</a:t>
            </a:r>
            <a:endParaRPr lang="en-US" sz="1000" dirty="0"/>
          </a:p>
        </p:txBody>
      </p:sp>
      <p:sp>
        <p:nvSpPr>
          <p:cNvPr id="26" name="Shape 24"/>
          <p:cNvSpPr/>
          <p:nvPr/>
        </p:nvSpPr>
        <p:spPr>
          <a:xfrm>
            <a:off x="5440680" y="2148840"/>
            <a:ext cx="868680" cy="3840480"/>
          </a:xfrm>
          <a:prstGeom prst="rect">
            <a:avLst/>
          </a:prstGeom>
          <a:solidFill>
            <a:srgbClr val="C8102E"/>
          </a:solidFill>
          <a:ln/>
        </p:spPr>
        <p:txBody>
          <a:bodyPr/>
          <a:lstStyle/>
          <a:p>
            <a:endParaRPr lang="en-CA"/>
          </a:p>
        </p:txBody>
      </p:sp>
      <p:sp>
        <p:nvSpPr>
          <p:cNvPr id="27" name="Text 25"/>
          <p:cNvSpPr txBox="1"/>
          <p:nvPr/>
        </p:nvSpPr>
        <p:spPr>
          <a:xfrm>
            <a:off x="5440680" y="2240280"/>
            <a:ext cx="868680" cy="41148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8" name="Text 26"/>
          <p:cNvSpPr txBox="1"/>
          <p:nvPr/>
        </p:nvSpPr>
        <p:spPr>
          <a:xfrm>
            <a:off x="5495544" y="2651760"/>
            <a:ext cx="758952" cy="3291840"/>
          </a:xfrm>
          <a:prstGeom prst="rect">
            <a:avLst/>
          </a:prstGeom>
          <a:noFill/>
          <a:ln/>
        </p:spPr>
        <p:txBody>
          <a:bodyPr wrap="square" lIns="0" tIns="0" rIns="0" bIns="0" rtlCol="0" anchor="t"/>
          <a:lstStyle/>
          <a:p>
            <a:pPr marL="0" indent="0" algn="ctr">
              <a:buNone/>
            </a:pPr>
            <a:r>
              <a:rPr lang="en-US" sz="1100" dirty="0">
                <a:solidFill>
                  <a:srgbClr val="FFFFFF"/>
                </a:solidFill>
                <a:latin typeface="Calibri" pitchFamily="34" charset="0"/>
                <a:ea typeface="Calibri" pitchFamily="34" charset="-122"/>
                <a:cs typeface="Calibri" pitchFamily="34" charset="-120"/>
              </a:rPr>
              <a:t>World Series Final</a:t>
            </a:r>
            <a:endParaRPr lang="en-US" sz="1100" dirty="0"/>
          </a:p>
        </p:txBody>
      </p:sp>
      <p:sp>
        <p:nvSpPr>
          <p:cNvPr id="29" name="Text 27"/>
          <p:cNvSpPr txBox="1"/>
          <p:nvPr/>
        </p:nvSpPr>
        <p:spPr>
          <a:xfrm>
            <a:off x="5394960" y="6062472"/>
            <a:ext cx="960120" cy="274320"/>
          </a:xfrm>
          <a:prstGeom prst="rect">
            <a:avLst/>
          </a:prstGeom>
          <a:noFill/>
          <a:ln/>
        </p:spPr>
        <p:txBody>
          <a:bodyPr wrap="square" lIns="0" tIns="0" rIns="0" bIns="0" rtlCol="0" anchor="t"/>
          <a:lstStyle/>
          <a:p>
            <a:pPr marL="0" indent="0" algn="ctr">
              <a:buNone/>
            </a:pPr>
            <a:r>
              <a:rPr lang="en-US" sz="1000" dirty="0">
                <a:solidFill>
                  <a:srgbClr val="5B6475"/>
                </a:solidFill>
                <a:latin typeface="Calibri" pitchFamily="34" charset="0"/>
                <a:ea typeface="Calibri" pitchFamily="34" charset="-122"/>
                <a:cs typeface="Calibri" pitchFamily="34" charset="-120"/>
              </a:rPr>
              <a:t>Top 8 Ranking</a:t>
            </a:r>
            <a:endParaRPr lang="en-US" sz="1000" dirty="0"/>
          </a:p>
        </p:txBody>
      </p:sp>
      <p:sp>
        <p:nvSpPr>
          <p:cNvPr id="30" name="Text 28"/>
          <p:cNvSpPr txBox="1"/>
          <p:nvPr/>
        </p:nvSpPr>
        <p:spPr>
          <a:xfrm>
            <a:off x="548640" y="1417320"/>
            <a:ext cx="5486400" cy="320040"/>
          </a:xfrm>
          <a:prstGeom prst="rect">
            <a:avLst/>
          </a:prstGeom>
          <a:noFill/>
          <a:ln/>
        </p:spPr>
        <p:txBody>
          <a:bodyPr wrap="square" lIns="0" tIns="0" rIns="0" bIns="0" rtlCol="0" anchor="t"/>
          <a:lstStyle/>
          <a:p>
            <a:pPr marL="0" indent="0">
              <a:buNone/>
            </a:pPr>
            <a:r>
              <a:rPr lang="en-US" sz="1400" dirty="0">
                <a:solidFill>
                  <a:srgbClr val="5B6475"/>
                </a:solidFill>
                <a:latin typeface="Calibri" pitchFamily="34" charset="0"/>
                <a:ea typeface="Calibri" pitchFamily="34" charset="-122"/>
                <a:cs typeface="Calibri" pitchFamily="34" charset="-120"/>
              </a:rPr>
              <a:t>Event Tiers, Gated by Rank</a:t>
            </a:r>
            <a:endParaRPr lang="en-US" sz="1400" dirty="0"/>
          </a:p>
        </p:txBody>
      </p:sp>
      <p:sp>
        <p:nvSpPr>
          <p:cNvPr id="31" name="Text 29"/>
          <p:cNvSpPr txBox="1"/>
          <p:nvPr/>
        </p:nvSpPr>
        <p:spPr>
          <a:xfrm>
            <a:off x="6858000" y="1417320"/>
            <a:ext cx="4785055"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Weekly Loop</a:t>
            </a:r>
            <a:endParaRPr lang="en-US" sz="1800" dirty="0"/>
          </a:p>
        </p:txBody>
      </p:sp>
      <p:sp>
        <p:nvSpPr>
          <p:cNvPr id="32" name="Text 30"/>
          <p:cNvSpPr txBox="1"/>
          <p:nvPr/>
        </p:nvSpPr>
        <p:spPr>
          <a:xfrm>
            <a:off x="6858000" y="1810512"/>
            <a:ext cx="4785055" cy="320040"/>
          </a:xfrm>
          <a:prstGeom prst="rect">
            <a:avLst/>
          </a:prstGeom>
          <a:noFill/>
          <a:ln/>
        </p:spPr>
        <p:txBody>
          <a:bodyPr wrap="square" lIns="0" tIns="0" rIns="0" bIns="0" rtlCol="0" anchor="t"/>
          <a:lstStyle/>
          <a:p>
            <a:pPr marL="0" indent="0">
              <a:buNone/>
            </a:pPr>
            <a:r>
              <a:rPr lang="en-US" sz="1400" b="1" dirty="0">
                <a:solidFill>
                  <a:srgbClr val="1F5BC4"/>
                </a:solidFill>
                <a:latin typeface="Calibri" pitchFamily="34" charset="0"/>
                <a:ea typeface="Calibri" pitchFamily="34" charset="-122"/>
                <a:cs typeface="Calibri" pitchFamily="34" charset="-120"/>
              </a:rPr>
              <a:t>Plan  →  Train  →  Prepare  →  Grade or Compete  →  Review  →  Level Up</a:t>
            </a:r>
            <a:endParaRPr lang="en-US" sz="1400" dirty="0"/>
          </a:p>
        </p:txBody>
      </p:sp>
      <p:sp>
        <p:nvSpPr>
          <p:cNvPr id="33" name="Shape 31"/>
          <p:cNvSpPr/>
          <p:nvPr/>
        </p:nvSpPr>
        <p:spPr>
          <a:xfrm>
            <a:off x="6858000" y="2423160"/>
            <a:ext cx="4785055" cy="1005840"/>
          </a:xfrm>
          <a:prstGeom prst="roundRect">
            <a:avLst>
              <a:gd name="adj" fmla="val 7273"/>
            </a:avLst>
          </a:prstGeom>
          <a:solidFill>
            <a:srgbClr val="F2F4F8"/>
          </a:solidFill>
          <a:ln/>
        </p:spPr>
        <p:txBody>
          <a:bodyPr/>
          <a:lstStyle/>
          <a:p>
            <a:endParaRPr lang="en-CA"/>
          </a:p>
        </p:txBody>
      </p:sp>
      <p:sp>
        <p:nvSpPr>
          <p:cNvPr id="34" name="Text 32"/>
          <p:cNvSpPr txBox="1"/>
          <p:nvPr/>
        </p:nvSpPr>
        <p:spPr>
          <a:xfrm>
            <a:off x="7086600" y="2560320"/>
            <a:ext cx="4327855"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Fighter Level</a:t>
            </a:r>
            <a:endParaRPr lang="en-US" sz="1500" dirty="0"/>
          </a:p>
        </p:txBody>
      </p:sp>
      <p:sp>
        <p:nvSpPr>
          <p:cNvPr id="35" name="Text 33"/>
          <p:cNvSpPr txBox="1"/>
          <p:nvPr/>
        </p:nvSpPr>
        <p:spPr>
          <a:xfrm>
            <a:off x="7086600" y="2880360"/>
            <a:ext cx="4327855" cy="5029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XP from Matches, Drills and Gradings Grows Attributes. </a:t>
            </a:r>
          </a:p>
          <a:p>
            <a:pPr marL="0" indent="0">
              <a:buNone/>
            </a:pPr>
            <a:r>
              <a:rPr lang="en-US" sz="1300" dirty="0">
                <a:solidFill>
                  <a:srgbClr val="1A202C"/>
                </a:solidFill>
                <a:latin typeface="Calibri" pitchFamily="34" charset="0"/>
                <a:ea typeface="Calibri" pitchFamily="34" charset="-122"/>
                <a:cs typeface="Calibri" pitchFamily="34" charset="-120"/>
              </a:rPr>
              <a:t>Cap: Level 40, About 30 Hours.</a:t>
            </a:r>
            <a:endParaRPr lang="en-US" sz="1300" dirty="0"/>
          </a:p>
        </p:txBody>
      </p:sp>
      <p:sp>
        <p:nvSpPr>
          <p:cNvPr id="36" name="Shape 34"/>
          <p:cNvSpPr/>
          <p:nvPr/>
        </p:nvSpPr>
        <p:spPr>
          <a:xfrm>
            <a:off x="6858000" y="3611880"/>
            <a:ext cx="4785055" cy="1005840"/>
          </a:xfrm>
          <a:prstGeom prst="roundRect">
            <a:avLst>
              <a:gd name="adj" fmla="val 7273"/>
            </a:avLst>
          </a:prstGeom>
          <a:solidFill>
            <a:srgbClr val="F2F4F8"/>
          </a:solidFill>
          <a:ln/>
        </p:spPr>
        <p:txBody>
          <a:bodyPr/>
          <a:lstStyle/>
          <a:p>
            <a:endParaRPr lang="en-CA"/>
          </a:p>
        </p:txBody>
      </p:sp>
      <p:sp>
        <p:nvSpPr>
          <p:cNvPr id="37" name="Text 35"/>
          <p:cNvSpPr txBox="1"/>
          <p:nvPr/>
        </p:nvSpPr>
        <p:spPr>
          <a:xfrm>
            <a:off x="7086600" y="3749040"/>
            <a:ext cx="4327855"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Rank</a:t>
            </a:r>
            <a:endParaRPr lang="en-US" sz="1500" dirty="0"/>
          </a:p>
        </p:txBody>
      </p:sp>
      <p:sp>
        <p:nvSpPr>
          <p:cNvPr id="38" name="Text 36"/>
          <p:cNvSpPr txBox="1"/>
          <p:nvPr/>
        </p:nvSpPr>
        <p:spPr>
          <a:xfrm>
            <a:off x="7086600" y="4069080"/>
            <a:ext cx="4327855" cy="5029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Belt and Dan Earned at Grading Exams. Gates Events, Technique Unlocks and the Dan Dobok.</a:t>
            </a:r>
            <a:endParaRPr lang="en-US" sz="1300" dirty="0"/>
          </a:p>
        </p:txBody>
      </p:sp>
      <p:sp>
        <p:nvSpPr>
          <p:cNvPr id="39" name="Shape 37"/>
          <p:cNvSpPr/>
          <p:nvPr/>
        </p:nvSpPr>
        <p:spPr>
          <a:xfrm>
            <a:off x="6858000" y="4800600"/>
            <a:ext cx="4785055" cy="1005840"/>
          </a:xfrm>
          <a:prstGeom prst="roundRect">
            <a:avLst>
              <a:gd name="adj" fmla="val 7273"/>
            </a:avLst>
          </a:prstGeom>
          <a:solidFill>
            <a:srgbClr val="F2F4F8"/>
          </a:solidFill>
          <a:ln/>
        </p:spPr>
        <p:txBody>
          <a:bodyPr/>
          <a:lstStyle/>
          <a:p>
            <a:endParaRPr lang="en-CA"/>
          </a:p>
        </p:txBody>
      </p:sp>
      <p:sp>
        <p:nvSpPr>
          <p:cNvPr id="40" name="Text 38"/>
          <p:cNvSpPr txBox="1"/>
          <p:nvPr/>
        </p:nvSpPr>
        <p:spPr>
          <a:xfrm>
            <a:off x="7086600" y="4937760"/>
            <a:ext cx="4327855" cy="320040"/>
          </a:xfrm>
          <a:prstGeom prst="rect">
            <a:avLst/>
          </a:prstGeom>
          <a:noFill/>
          <a:ln/>
        </p:spPr>
        <p:txBody>
          <a:bodyPr wrap="square" lIns="0" tIns="0" rIns="0" bIns="0" rtlCol="0" anchor="t"/>
          <a:lstStyle/>
          <a:p>
            <a:pPr marL="0" indent="0">
              <a:buNone/>
            </a:pPr>
            <a:r>
              <a:rPr lang="en-US" sz="1500" b="1" dirty="0">
                <a:solidFill>
                  <a:srgbClr val="1A202C"/>
                </a:solidFill>
                <a:latin typeface="Calibri" pitchFamily="34" charset="0"/>
                <a:ea typeface="Calibri" pitchFamily="34" charset="-122"/>
                <a:cs typeface="Calibri" pitchFamily="34" charset="-120"/>
              </a:rPr>
              <a:t>People</a:t>
            </a:r>
            <a:endParaRPr lang="en-US" sz="1500" dirty="0"/>
          </a:p>
        </p:txBody>
      </p:sp>
      <p:sp>
        <p:nvSpPr>
          <p:cNvPr id="41" name="Text 39"/>
          <p:cNvSpPr txBox="1"/>
          <p:nvPr/>
        </p:nvSpPr>
        <p:spPr>
          <a:xfrm>
            <a:off x="7086600" y="5257800"/>
            <a:ext cx="4327855" cy="50292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A Coach Who Scouts Opponents, Rivals Who Rise Alongside You, and Club Mates Who Unlock Drills.</a:t>
            </a:r>
            <a:endParaRPr lang="en-US" sz="1300" dirty="0"/>
          </a:p>
        </p:txBody>
      </p:sp>
      <p:sp>
        <p:nvSpPr>
          <p:cNvPr id="42" name="Text 40"/>
          <p:cNvSpPr txBox="1"/>
          <p:nvPr/>
        </p:nvSpPr>
        <p:spPr>
          <a:xfrm>
            <a:off x="6858000" y="6035040"/>
            <a:ext cx="4785055" cy="320040"/>
          </a:xfrm>
          <a:prstGeom prst="rect">
            <a:avLst/>
          </a:prstGeom>
          <a:noFill/>
          <a:ln/>
        </p:spPr>
        <p:txBody>
          <a:bodyPr wrap="square" lIns="0" tIns="0" rIns="0" bIns="0" rtlCol="0" anchor="t"/>
          <a:lstStyle/>
          <a:p>
            <a:pPr marL="0" indent="0">
              <a:buNone/>
            </a:pPr>
            <a:r>
              <a:rPr lang="en-US" sz="1300" i="1" dirty="0">
                <a:solidFill>
                  <a:srgbClr val="5B6475"/>
                </a:solidFill>
                <a:latin typeface="Calibri" pitchFamily="34" charset="0"/>
                <a:ea typeface="Calibri" pitchFamily="34" charset="-122"/>
                <a:cs typeface="Calibri" pitchFamily="34" charset="-120"/>
              </a:rPr>
              <a:t>Neither Track Lets Stats Beat Skill.</a:t>
            </a:r>
            <a:endParaRPr lang="en-US" sz="1300" dirty="0"/>
          </a:p>
        </p:txBody>
      </p:sp>
      <p:sp>
        <p:nvSpPr>
          <p:cNvPr id="43" name="Text 41"/>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04 · ART AND TECHNOLOGY</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Look and Sound</a:t>
            </a:r>
            <a:endParaRPr lang="en-US" sz="3400" dirty="0"/>
          </a:p>
        </p:txBody>
      </p:sp>
      <p:pic>
        <p:nvPicPr>
          <p:cNvPr id="6" name="Image 0" descr="img/FightingRing_Ref.jpg"/>
          <p:cNvPicPr>
            <a:picLocks noChangeAspect="1"/>
          </p:cNvPicPr>
          <p:nvPr/>
        </p:nvPicPr>
        <p:blipFill>
          <a:blip r:embed="rId3"/>
          <a:srcRect/>
          <a:stretch/>
        </p:blipFill>
        <p:spPr>
          <a:xfrm>
            <a:off x="548640" y="1325880"/>
            <a:ext cx="3314700" cy="2308860"/>
          </a:xfrm>
          <a:prstGeom prst="rect">
            <a:avLst/>
          </a:prstGeom>
        </p:spPr>
      </p:pic>
      <p:sp>
        <p:nvSpPr>
          <p:cNvPr id="7" name="Shape 4"/>
          <p:cNvSpPr/>
          <p:nvPr/>
        </p:nvSpPr>
        <p:spPr>
          <a:xfrm>
            <a:off x="658368" y="3204972"/>
            <a:ext cx="1920240" cy="320040"/>
          </a:xfrm>
          <a:prstGeom prst="roundRect">
            <a:avLst>
              <a:gd name="adj" fmla="val 14286"/>
            </a:avLst>
          </a:prstGeom>
          <a:solidFill>
            <a:srgbClr val="0B1019">
              <a:alpha val="80000"/>
            </a:srgbClr>
          </a:solidFill>
          <a:ln/>
        </p:spPr>
        <p:txBody>
          <a:bodyPr/>
          <a:lstStyle/>
          <a:p>
            <a:endParaRPr lang="en-CA"/>
          </a:p>
        </p:txBody>
      </p:sp>
      <p:sp>
        <p:nvSpPr>
          <p:cNvPr id="8" name="Text 5"/>
          <p:cNvSpPr txBox="1"/>
          <p:nvPr/>
        </p:nvSpPr>
        <p:spPr>
          <a:xfrm>
            <a:off x="658368" y="320497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Competition Arena</a:t>
            </a:r>
            <a:endParaRPr lang="en-US" sz="1100" dirty="0"/>
          </a:p>
        </p:txBody>
      </p:sp>
      <p:pic>
        <p:nvPicPr>
          <p:cNvPr id="9" name="Image 1" descr="img/TrainingDojang_Ref.jpg"/>
          <p:cNvPicPr>
            <a:picLocks noChangeAspect="1"/>
          </p:cNvPicPr>
          <p:nvPr/>
        </p:nvPicPr>
        <p:blipFill>
          <a:blip r:embed="rId4"/>
          <a:srcRect/>
          <a:stretch/>
        </p:blipFill>
        <p:spPr>
          <a:xfrm>
            <a:off x="4000500" y="1325880"/>
            <a:ext cx="3314700" cy="2308860"/>
          </a:xfrm>
          <a:prstGeom prst="rect">
            <a:avLst/>
          </a:prstGeom>
        </p:spPr>
      </p:pic>
      <p:sp>
        <p:nvSpPr>
          <p:cNvPr id="10" name="Shape 6"/>
          <p:cNvSpPr/>
          <p:nvPr/>
        </p:nvSpPr>
        <p:spPr>
          <a:xfrm>
            <a:off x="4110228" y="3204972"/>
            <a:ext cx="1920240" cy="320040"/>
          </a:xfrm>
          <a:prstGeom prst="roundRect">
            <a:avLst>
              <a:gd name="adj" fmla="val 14286"/>
            </a:avLst>
          </a:prstGeom>
          <a:solidFill>
            <a:srgbClr val="0B1019">
              <a:alpha val="80000"/>
            </a:srgbClr>
          </a:solidFill>
          <a:ln/>
        </p:spPr>
        <p:txBody>
          <a:bodyPr/>
          <a:lstStyle/>
          <a:p>
            <a:endParaRPr lang="en-CA"/>
          </a:p>
        </p:txBody>
      </p:sp>
      <p:sp>
        <p:nvSpPr>
          <p:cNvPr id="11" name="Text 7"/>
          <p:cNvSpPr txBox="1"/>
          <p:nvPr/>
        </p:nvSpPr>
        <p:spPr>
          <a:xfrm>
            <a:off x="4110228" y="320497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Training Dojang</a:t>
            </a:r>
            <a:endParaRPr lang="en-US" sz="1100" dirty="0"/>
          </a:p>
        </p:txBody>
      </p:sp>
      <p:pic>
        <p:nvPicPr>
          <p:cNvPr id="12" name="Image 2" descr="img/Fighter_Ref.jpg"/>
          <p:cNvPicPr>
            <a:picLocks noChangeAspect="1"/>
          </p:cNvPicPr>
          <p:nvPr/>
        </p:nvPicPr>
        <p:blipFill>
          <a:blip r:embed="rId5"/>
          <a:srcRect/>
          <a:stretch/>
        </p:blipFill>
        <p:spPr>
          <a:xfrm>
            <a:off x="548640" y="3771900"/>
            <a:ext cx="3314700" cy="2308860"/>
          </a:xfrm>
          <a:prstGeom prst="rect">
            <a:avLst/>
          </a:prstGeom>
        </p:spPr>
      </p:pic>
      <p:sp>
        <p:nvSpPr>
          <p:cNvPr id="13" name="Shape 8"/>
          <p:cNvSpPr/>
          <p:nvPr/>
        </p:nvSpPr>
        <p:spPr>
          <a:xfrm>
            <a:off x="658368" y="5650992"/>
            <a:ext cx="1920240" cy="320040"/>
          </a:xfrm>
          <a:prstGeom prst="roundRect">
            <a:avLst>
              <a:gd name="adj" fmla="val 14286"/>
            </a:avLst>
          </a:prstGeom>
          <a:solidFill>
            <a:srgbClr val="0B1019">
              <a:alpha val="80000"/>
            </a:srgbClr>
          </a:solidFill>
          <a:ln/>
        </p:spPr>
        <p:txBody>
          <a:bodyPr/>
          <a:lstStyle/>
          <a:p>
            <a:endParaRPr lang="en-CA"/>
          </a:p>
        </p:txBody>
      </p:sp>
      <p:sp>
        <p:nvSpPr>
          <p:cNvPr id="14" name="Text 9"/>
          <p:cNvSpPr txBox="1"/>
          <p:nvPr/>
        </p:nvSpPr>
        <p:spPr>
          <a:xfrm>
            <a:off x="658368" y="565099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Fighter</a:t>
            </a:r>
            <a:endParaRPr lang="en-US" sz="1100" dirty="0"/>
          </a:p>
        </p:txBody>
      </p:sp>
      <p:pic>
        <p:nvPicPr>
          <p:cNvPr id="15" name="Image 3" descr="img/Referee_Ref.jpg"/>
          <p:cNvPicPr>
            <a:picLocks noChangeAspect="1"/>
          </p:cNvPicPr>
          <p:nvPr/>
        </p:nvPicPr>
        <p:blipFill>
          <a:blip r:embed="rId6"/>
          <a:srcRect/>
          <a:stretch/>
        </p:blipFill>
        <p:spPr>
          <a:xfrm>
            <a:off x="4000500" y="3771900"/>
            <a:ext cx="3314700" cy="2308860"/>
          </a:xfrm>
          <a:prstGeom prst="rect">
            <a:avLst/>
          </a:prstGeom>
        </p:spPr>
      </p:pic>
      <p:sp>
        <p:nvSpPr>
          <p:cNvPr id="16" name="Shape 10"/>
          <p:cNvSpPr/>
          <p:nvPr/>
        </p:nvSpPr>
        <p:spPr>
          <a:xfrm>
            <a:off x="4110228" y="5650992"/>
            <a:ext cx="1920240" cy="320040"/>
          </a:xfrm>
          <a:prstGeom prst="roundRect">
            <a:avLst>
              <a:gd name="adj" fmla="val 14286"/>
            </a:avLst>
          </a:prstGeom>
          <a:solidFill>
            <a:srgbClr val="0B1019">
              <a:alpha val="80000"/>
            </a:srgbClr>
          </a:solidFill>
          <a:ln/>
        </p:spPr>
        <p:txBody>
          <a:bodyPr/>
          <a:lstStyle/>
          <a:p>
            <a:endParaRPr lang="en-CA"/>
          </a:p>
        </p:txBody>
      </p:sp>
      <p:sp>
        <p:nvSpPr>
          <p:cNvPr id="17" name="Text 11"/>
          <p:cNvSpPr txBox="1"/>
          <p:nvPr/>
        </p:nvSpPr>
        <p:spPr>
          <a:xfrm>
            <a:off x="4110228" y="5650992"/>
            <a:ext cx="192024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Referee</a:t>
            </a:r>
            <a:endParaRPr lang="en-US" sz="1100" dirty="0"/>
          </a:p>
        </p:txBody>
      </p:sp>
      <p:sp>
        <p:nvSpPr>
          <p:cNvPr id="18" name="Shape 12"/>
          <p:cNvSpPr/>
          <p:nvPr/>
        </p:nvSpPr>
        <p:spPr>
          <a:xfrm>
            <a:off x="7680960" y="1399032"/>
            <a:ext cx="182880" cy="182880"/>
          </a:xfrm>
          <a:prstGeom prst="ellipse">
            <a:avLst/>
          </a:prstGeom>
          <a:solidFill>
            <a:srgbClr val="1F5BC4"/>
          </a:solidFill>
          <a:ln/>
        </p:spPr>
        <p:txBody>
          <a:bodyPr/>
          <a:lstStyle/>
          <a:p>
            <a:endParaRPr lang="en-CA"/>
          </a:p>
        </p:txBody>
      </p:sp>
      <p:sp>
        <p:nvSpPr>
          <p:cNvPr id="19" name="Text 13"/>
          <p:cNvSpPr txBox="1"/>
          <p:nvPr/>
        </p:nvSpPr>
        <p:spPr>
          <a:xfrm>
            <a:off x="8001000" y="1325880"/>
            <a:ext cx="3642055" cy="329184"/>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Visual</a:t>
            </a:r>
            <a:endParaRPr lang="en-US" sz="1700" dirty="0"/>
          </a:p>
        </p:txBody>
      </p:sp>
      <p:sp>
        <p:nvSpPr>
          <p:cNvPr id="20" name="Text 14"/>
          <p:cNvSpPr txBox="1"/>
          <p:nvPr/>
        </p:nvSpPr>
        <p:spPr>
          <a:xfrm>
            <a:off x="7680960" y="1737360"/>
            <a:ext cx="3962095" cy="10972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Realistic and Clean, Like a World Taekwondo Broadcast. Chung Blue and Hong Red Run Through the Mat, Gear, Scoreboard and HUD.</a:t>
            </a:r>
            <a:endParaRPr lang="en-US" sz="1300" dirty="0"/>
          </a:p>
        </p:txBody>
      </p:sp>
      <p:sp>
        <p:nvSpPr>
          <p:cNvPr id="21" name="Shape 15"/>
          <p:cNvSpPr/>
          <p:nvPr/>
        </p:nvSpPr>
        <p:spPr>
          <a:xfrm>
            <a:off x="7680960" y="2999232"/>
            <a:ext cx="182880" cy="182880"/>
          </a:xfrm>
          <a:prstGeom prst="ellipse">
            <a:avLst/>
          </a:prstGeom>
          <a:solidFill>
            <a:srgbClr val="C8102E"/>
          </a:solidFill>
          <a:ln/>
        </p:spPr>
        <p:txBody>
          <a:bodyPr/>
          <a:lstStyle/>
          <a:p>
            <a:endParaRPr lang="en-CA"/>
          </a:p>
        </p:txBody>
      </p:sp>
      <p:sp>
        <p:nvSpPr>
          <p:cNvPr id="22" name="Text 16"/>
          <p:cNvSpPr txBox="1"/>
          <p:nvPr/>
        </p:nvSpPr>
        <p:spPr>
          <a:xfrm>
            <a:off x="8001000" y="2926080"/>
            <a:ext cx="3642055" cy="329184"/>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Sound</a:t>
            </a:r>
            <a:endParaRPr lang="en-US" sz="1700" dirty="0"/>
          </a:p>
        </p:txBody>
      </p:sp>
      <p:sp>
        <p:nvSpPr>
          <p:cNvPr id="23" name="Text 17"/>
          <p:cNvSpPr txBox="1"/>
          <p:nvPr/>
        </p:nvSpPr>
        <p:spPr>
          <a:xfrm>
            <a:off x="7680960" y="3337560"/>
            <a:ext cx="3962095" cy="10972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Protector Impacts Change with the Points Scored. Referee Commands in Korean with English Subtitles.</a:t>
            </a:r>
            <a:endParaRPr lang="en-US" sz="1300" dirty="0"/>
          </a:p>
        </p:txBody>
      </p:sp>
      <p:sp>
        <p:nvSpPr>
          <p:cNvPr id="24" name="Shape 18"/>
          <p:cNvSpPr/>
          <p:nvPr/>
        </p:nvSpPr>
        <p:spPr>
          <a:xfrm>
            <a:off x="7680960" y="4599432"/>
            <a:ext cx="182880" cy="182880"/>
          </a:xfrm>
          <a:prstGeom prst="ellipse">
            <a:avLst/>
          </a:prstGeom>
          <a:solidFill>
            <a:srgbClr val="1F5BC4"/>
          </a:solidFill>
          <a:ln/>
        </p:spPr>
        <p:txBody>
          <a:bodyPr/>
          <a:lstStyle/>
          <a:p>
            <a:endParaRPr lang="en-CA"/>
          </a:p>
        </p:txBody>
      </p:sp>
      <p:sp>
        <p:nvSpPr>
          <p:cNvPr id="25" name="Text 19"/>
          <p:cNvSpPr txBox="1"/>
          <p:nvPr/>
        </p:nvSpPr>
        <p:spPr>
          <a:xfrm>
            <a:off x="8001000" y="4526280"/>
            <a:ext cx="3642055" cy="329184"/>
          </a:xfrm>
          <a:prstGeom prst="rect">
            <a:avLst/>
          </a:prstGeom>
          <a:noFill/>
          <a:ln/>
        </p:spPr>
        <p:txBody>
          <a:bodyPr wrap="square" lIns="0" tIns="0" rIns="0" bIns="0" rtlCol="0" anchor="t"/>
          <a:lstStyle/>
          <a:p>
            <a:pPr marL="0" indent="0">
              <a:buNone/>
            </a:pPr>
            <a:r>
              <a:rPr lang="en-US" sz="1700" b="1" dirty="0">
                <a:solidFill>
                  <a:srgbClr val="1A202C"/>
                </a:solidFill>
                <a:latin typeface="Arial" pitchFamily="34" charset="0"/>
                <a:ea typeface="Arial" pitchFamily="34" charset="-122"/>
                <a:cs typeface="Arial" pitchFamily="34" charset="-120"/>
              </a:rPr>
              <a:t>Music</a:t>
            </a:r>
            <a:endParaRPr lang="en-US" sz="1700" dirty="0"/>
          </a:p>
        </p:txBody>
      </p:sp>
      <p:sp>
        <p:nvSpPr>
          <p:cNvPr id="26" name="Text 20"/>
          <p:cNvSpPr txBox="1"/>
          <p:nvPr/>
        </p:nvSpPr>
        <p:spPr>
          <a:xfrm>
            <a:off x="7680960" y="4937760"/>
            <a:ext cx="3962095" cy="109728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Menus and Round Breaks Only. Rounds Stay Silent So Impacts and Footwork Read Clearly.</a:t>
            </a:r>
            <a:endParaRPr lang="en-US" sz="1300" dirty="0"/>
          </a:p>
        </p:txBody>
      </p:sp>
      <p:sp>
        <p:nvSpPr>
          <p:cNvPr id="28" name="Text 21"/>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04 · ART AND TECHNOLOGY</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Technical Design</a:t>
            </a:r>
            <a:endParaRPr lang="en-US" sz="3400" dirty="0"/>
          </a:p>
        </p:txBody>
      </p:sp>
      <p:sp>
        <p:nvSpPr>
          <p:cNvPr id="6" name="Text 4"/>
          <p:cNvSpPr txBox="1"/>
          <p:nvPr/>
        </p:nvSpPr>
        <p:spPr>
          <a:xfrm>
            <a:off x="548640" y="1371600"/>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Engine</a:t>
            </a:r>
            <a:endParaRPr lang="en-US" sz="1300" dirty="0"/>
          </a:p>
        </p:txBody>
      </p:sp>
      <p:sp>
        <p:nvSpPr>
          <p:cNvPr id="7" name="Text 5"/>
          <p:cNvSpPr txBox="1"/>
          <p:nvPr/>
        </p:nvSpPr>
        <p:spPr>
          <a:xfrm>
            <a:off x="2148840" y="1371600"/>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Unreal Engine 5.8 Source Build, DirectX 12</a:t>
            </a:r>
            <a:endParaRPr lang="en-US" sz="1400" dirty="0"/>
          </a:p>
        </p:txBody>
      </p:sp>
      <p:sp>
        <p:nvSpPr>
          <p:cNvPr id="8" name="Shape 6"/>
          <p:cNvSpPr/>
          <p:nvPr/>
        </p:nvSpPr>
        <p:spPr>
          <a:xfrm>
            <a:off x="548640" y="1975104"/>
            <a:ext cx="5120640" cy="0"/>
          </a:xfrm>
          <a:prstGeom prst="line">
            <a:avLst/>
          </a:prstGeom>
          <a:noFill/>
          <a:ln w="9525">
            <a:solidFill>
              <a:srgbClr val="D9DEE7"/>
            </a:solidFill>
            <a:prstDash val="solid"/>
          </a:ln>
        </p:spPr>
        <p:txBody>
          <a:bodyPr/>
          <a:lstStyle/>
          <a:p>
            <a:endParaRPr lang="en-CA"/>
          </a:p>
        </p:txBody>
      </p:sp>
      <p:sp>
        <p:nvSpPr>
          <p:cNvPr id="9" name="Text 7"/>
          <p:cNvSpPr txBox="1"/>
          <p:nvPr/>
        </p:nvSpPr>
        <p:spPr>
          <a:xfrm>
            <a:off x="548640" y="2029968"/>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Characters</a:t>
            </a:r>
            <a:endParaRPr lang="en-US" sz="1300" dirty="0"/>
          </a:p>
        </p:txBody>
      </p:sp>
      <p:sp>
        <p:nvSpPr>
          <p:cNvPr id="10" name="Text 8"/>
          <p:cNvSpPr txBox="1"/>
          <p:nvPr/>
        </p:nvSpPr>
        <p:spPr>
          <a:xfrm>
            <a:off x="2148840" y="2029968"/>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MetaHuman Bodies; Dobok and Gear Refit per Body in Blender</a:t>
            </a:r>
            <a:endParaRPr lang="en-US" sz="1400" dirty="0"/>
          </a:p>
        </p:txBody>
      </p:sp>
      <p:sp>
        <p:nvSpPr>
          <p:cNvPr id="11" name="Shape 9"/>
          <p:cNvSpPr/>
          <p:nvPr/>
        </p:nvSpPr>
        <p:spPr>
          <a:xfrm>
            <a:off x="548640" y="2633472"/>
            <a:ext cx="5120640" cy="0"/>
          </a:xfrm>
          <a:prstGeom prst="line">
            <a:avLst/>
          </a:prstGeom>
          <a:noFill/>
          <a:ln w="9525">
            <a:solidFill>
              <a:srgbClr val="D9DEE7"/>
            </a:solidFill>
            <a:prstDash val="solid"/>
          </a:ln>
        </p:spPr>
        <p:txBody>
          <a:bodyPr/>
          <a:lstStyle/>
          <a:p>
            <a:endParaRPr lang="en-CA"/>
          </a:p>
        </p:txBody>
      </p:sp>
      <p:sp>
        <p:nvSpPr>
          <p:cNvPr id="12" name="Text 10"/>
          <p:cNvSpPr txBox="1"/>
          <p:nvPr/>
        </p:nvSpPr>
        <p:spPr>
          <a:xfrm>
            <a:off x="548640" y="2688336"/>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Animation</a:t>
            </a:r>
            <a:endParaRPr lang="en-US" sz="1300" dirty="0"/>
          </a:p>
        </p:txBody>
      </p:sp>
      <p:sp>
        <p:nvSpPr>
          <p:cNvPr id="13" name="Text 11"/>
          <p:cNvSpPr txBox="1"/>
          <p:nvPr/>
        </p:nvSpPr>
        <p:spPr>
          <a:xfrm>
            <a:off x="2148840" y="2688336"/>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IK Retargeter for Mocap; Leader Pose for Gear</a:t>
            </a:r>
            <a:endParaRPr lang="en-US" sz="1400" dirty="0"/>
          </a:p>
        </p:txBody>
      </p:sp>
      <p:sp>
        <p:nvSpPr>
          <p:cNvPr id="14" name="Shape 12"/>
          <p:cNvSpPr/>
          <p:nvPr/>
        </p:nvSpPr>
        <p:spPr>
          <a:xfrm>
            <a:off x="548640" y="3291840"/>
            <a:ext cx="5120640" cy="0"/>
          </a:xfrm>
          <a:prstGeom prst="line">
            <a:avLst/>
          </a:prstGeom>
          <a:noFill/>
          <a:ln w="9525">
            <a:solidFill>
              <a:srgbClr val="D9DEE7"/>
            </a:solidFill>
            <a:prstDash val="solid"/>
          </a:ln>
        </p:spPr>
        <p:txBody>
          <a:bodyPr/>
          <a:lstStyle/>
          <a:p>
            <a:endParaRPr lang="en-CA"/>
          </a:p>
        </p:txBody>
      </p:sp>
      <p:sp>
        <p:nvSpPr>
          <p:cNvPr id="15" name="Text 13"/>
          <p:cNvSpPr txBox="1"/>
          <p:nvPr/>
        </p:nvSpPr>
        <p:spPr>
          <a:xfrm>
            <a:off x="548640" y="3346704"/>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Motion Capture</a:t>
            </a:r>
            <a:endParaRPr lang="en-US" sz="1300" dirty="0"/>
          </a:p>
        </p:txBody>
      </p:sp>
      <p:sp>
        <p:nvSpPr>
          <p:cNvPr id="16" name="Text 14"/>
          <p:cNvSpPr txBox="1"/>
          <p:nvPr/>
        </p:nvSpPr>
        <p:spPr>
          <a:xfrm>
            <a:off x="2148840" y="3346704"/>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Markerless Video vs Suit: Milestone 1 Decides</a:t>
            </a:r>
            <a:endParaRPr lang="en-US" sz="1400" dirty="0"/>
          </a:p>
        </p:txBody>
      </p:sp>
      <p:sp>
        <p:nvSpPr>
          <p:cNvPr id="17" name="Shape 15"/>
          <p:cNvSpPr/>
          <p:nvPr/>
        </p:nvSpPr>
        <p:spPr>
          <a:xfrm>
            <a:off x="548640" y="3950208"/>
            <a:ext cx="5120640" cy="0"/>
          </a:xfrm>
          <a:prstGeom prst="line">
            <a:avLst/>
          </a:prstGeom>
          <a:noFill/>
          <a:ln w="9525">
            <a:solidFill>
              <a:srgbClr val="D9DEE7"/>
            </a:solidFill>
            <a:prstDash val="solid"/>
          </a:ln>
        </p:spPr>
        <p:txBody>
          <a:bodyPr/>
          <a:lstStyle/>
          <a:p>
            <a:endParaRPr lang="en-CA"/>
          </a:p>
        </p:txBody>
      </p:sp>
      <p:sp>
        <p:nvSpPr>
          <p:cNvPr id="18" name="Text 16"/>
          <p:cNvSpPr txBox="1"/>
          <p:nvPr/>
        </p:nvSpPr>
        <p:spPr>
          <a:xfrm>
            <a:off x="548640" y="4005072"/>
            <a:ext cx="1554480" cy="548640"/>
          </a:xfrm>
          <a:prstGeom prst="rect">
            <a:avLst/>
          </a:prstGeom>
          <a:noFill/>
          <a:ln/>
        </p:spPr>
        <p:txBody>
          <a:bodyPr wrap="square" lIns="0" tIns="0" rIns="0" bIns="0" rtlCol="0" anchor="ctr"/>
          <a:lstStyle/>
          <a:p>
            <a:pPr marL="0" indent="0">
              <a:buNone/>
            </a:pPr>
            <a:r>
              <a:rPr lang="en-US" sz="1300" b="1" dirty="0">
                <a:solidFill>
                  <a:srgbClr val="5B6475"/>
                </a:solidFill>
                <a:latin typeface="Calibri" pitchFamily="34" charset="0"/>
                <a:ea typeface="Calibri" pitchFamily="34" charset="-122"/>
                <a:cs typeface="Calibri" pitchFamily="34" charset="-120"/>
              </a:rPr>
              <a:t>Version Control</a:t>
            </a:r>
            <a:endParaRPr lang="en-US" sz="1300" dirty="0"/>
          </a:p>
        </p:txBody>
      </p:sp>
      <p:sp>
        <p:nvSpPr>
          <p:cNvPr id="19" name="Text 17"/>
          <p:cNvSpPr txBox="1"/>
          <p:nvPr/>
        </p:nvSpPr>
        <p:spPr>
          <a:xfrm>
            <a:off x="2148840" y="4005072"/>
            <a:ext cx="3520440" cy="548640"/>
          </a:xfrm>
          <a:prstGeom prst="rect">
            <a:avLst/>
          </a:prstGeom>
          <a:noFill/>
          <a:ln/>
        </p:spPr>
        <p:txBody>
          <a:bodyPr wrap="square" lIns="0" tIns="0" rIns="0" bIns="0" rtlCol="0" anchor="ctr"/>
          <a:lstStyle/>
          <a:p>
            <a:pPr marL="0" indent="0">
              <a:buNone/>
            </a:pPr>
            <a:r>
              <a:rPr lang="en-US" sz="1400" dirty="0">
                <a:solidFill>
                  <a:srgbClr val="1A202C"/>
                </a:solidFill>
                <a:latin typeface="Calibri" pitchFamily="34" charset="0"/>
                <a:ea typeface="Calibri" pitchFamily="34" charset="-122"/>
                <a:cs typeface="Calibri" pitchFamily="34" charset="-120"/>
              </a:rPr>
              <a:t>Perforce Helix Core on AWS; Git for Docs and Tools</a:t>
            </a:r>
            <a:endParaRPr lang="en-US" sz="1400" dirty="0"/>
          </a:p>
        </p:txBody>
      </p:sp>
      <p:sp>
        <p:nvSpPr>
          <p:cNvPr id="20" name="Shape 18"/>
          <p:cNvSpPr/>
          <p:nvPr/>
        </p:nvSpPr>
        <p:spPr>
          <a:xfrm>
            <a:off x="548640" y="4608576"/>
            <a:ext cx="5120640" cy="0"/>
          </a:xfrm>
          <a:prstGeom prst="line">
            <a:avLst/>
          </a:prstGeom>
          <a:noFill/>
          <a:ln w="9525">
            <a:solidFill>
              <a:srgbClr val="D9DEE7"/>
            </a:solidFill>
            <a:prstDash val="solid"/>
          </a:ln>
        </p:spPr>
        <p:txBody>
          <a:bodyPr/>
          <a:lstStyle/>
          <a:p>
            <a:endParaRPr lang="en-CA"/>
          </a:p>
        </p:txBody>
      </p:sp>
      <p:sp>
        <p:nvSpPr>
          <p:cNvPr id="21" name="Shape 19"/>
          <p:cNvSpPr/>
          <p:nvPr/>
        </p:nvSpPr>
        <p:spPr>
          <a:xfrm>
            <a:off x="6309360" y="1371600"/>
            <a:ext cx="5333695" cy="3749040"/>
          </a:xfrm>
          <a:prstGeom prst="roundRect">
            <a:avLst>
              <a:gd name="adj" fmla="val 1951"/>
            </a:avLst>
          </a:prstGeom>
          <a:solidFill>
            <a:srgbClr val="F2F4F8"/>
          </a:solidFill>
          <a:ln/>
        </p:spPr>
        <p:txBody>
          <a:bodyPr/>
          <a:lstStyle/>
          <a:p>
            <a:endParaRPr lang="en-CA"/>
          </a:p>
        </p:txBody>
      </p:sp>
      <p:sp>
        <p:nvSpPr>
          <p:cNvPr id="22" name="Text 20"/>
          <p:cNvSpPr txBox="1"/>
          <p:nvPr/>
        </p:nvSpPr>
        <p:spPr>
          <a:xfrm>
            <a:off x="6629400" y="1600200"/>
            <a:ext cx="4693615" cy="365760"/>
          </a:xfrm>
          <a:prstGeom prst="rect">
            <a:avLst/>
          </a:prstGeom>
          <a:noFill/>
          <a:ln/>
        </p:spPr>
        <p:txBody>
          <a:bodyPr wrap="square" lIns="0" tIns="0" rIns="0" bIns="0" rtlCol="0" anchor="t"/>
          <a:lstStyle/>
          <a:p>
            <a:pPr marL="0" indent="0">
              <a:buNone/>
            </a:pPr>
            <a:r>
              <a:rPr lang="en-US" sz="1800" b="1" dirty="0">
                <a:solidFill>
                  <a:srgbClr val="1A202C"/>
                </a:solidFill>
                <a:latin typeface="Arial" pitchFamily="34" charset="0"/>
                <a:ea typeface="Arial" pitchFamily="34" charset="-122"/>
                <a:cs typeface="Arial" pitchFamily="34" charset="-120"/>
              </a:rPr>
              <a:t>Data-Driven Combat</a:t>
            </a:r>
            <a:endParaRPr lang="en-US" sz="1800" dirty="0"/>
          </a:p>
        </p:txBody>
      </p:sp>
      <p:sp>
        <p:nvSpPr>
          <p:cNvPr id="23" name="Text 21"/>
          <p:cNvSpPr txBox="1"/>
          <p:nvPr/>
        </p:nvSpPr>
        <p:spPr>
          <a:xfrm>
            <a:off x="6629400" y="2057400"/>
            <a:ext cx="4693615" cy="1371600"/>
          </a:xfrm>
          <a:prstGeom prst="rect">
            <a:avLst/>
          </a:prstGeom>
          <a:noFill/>
          <a:ln/>
        </p:spPr>
        <p:txBody>
          <a:bodyPr wrap="square" lIns="0" tIns="0" rIns="0" bIns="0" rtlCol="0" anchor="t"/>
          <a:lstStyle/>
          <a:p>
            <a:pPr marL="0" indent="0">
              <a:buNone/>
            </a:pPr>
            <a:r>
              <a:rPr lang="en-US" sz="1300" dirty="0">
                <a:solidFill>
                  <a:srgbClr val="1A202C"/>
                </a:solidFill>
                <a:latin typeface="Calibri" pitchFamily="34" charset="0"/>
                <a:ea typeface="Calibri" pitchFamily="34" charset="-122"/>
                <a:cs typeface="Calibri" pitchFamily="34" charset="-120"/>
              </a:rPr>
              <a:t>Each Technique Is a MoveData Row: Input Gesture and Modifiers, Startup / Active / Recovery Timing, Stamina Cost, Points, Target and Range. It Lives Apart from the Animation, So Placeholder Moves Swap for Final Mocap Without Touching Combat Logic.</a:t>
            </a:r>
            <a:endParaRPr lang="en-US" sz="1300" dirty="0"/>
          </a:p>
        </p:txBody>
      </p:sp>
      <p:sp>
        <p:nvSpPr>
          <p:cNvPr id="24" name="Shape 22"/>
          <p:cNvSpPr/>
          <p:nvPr/>
        </p:nvSpPr>
        <p:spPr>
          <a:xfrm>
            <a:off x="6629400" y="3566160"/>
            <a:ext cx="1503578" cy="502920"/>
          </a:xfrm>
          <a:prstGeom prst="rect">
            <a:avLst/>
          </a:prstGeom>
          <a:solidFill>
            <a:srgbClr val="1F5BC4"/>
          </a:solidFill>
          <a:ln/>
        </p:spPr>
        <p:txBody>
          <a:bodyPr/>
          <a:lstStyle/>
          <a:p>
            <a:endParaRPr lang="en-CA"/>
          </a:p>
        </p:txBody>
      </p:sp>
      <p:sp>
        <p:nvSpPr>
          <p:cNvPr id="25" name="Text 23"/>
          <p:cNvSpPr txBox="1"/>
          <p:nvPr/>
        </p:nvSpPr>
        <p:spPr>
          <a:xfrm>
            <a:off x="6629400" y="3566160"/>
            <a:ext cx="1503578"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Startup</a:t>
            </a:r>
            <a:endParaRPr lang="en-US" sz="1300" dirty="0"/>
          </a:p>
        </p:txBody>
      </p:sp>
      <p:sp>
        <p:nvSpPr>
          <p:cNvPr id="26" name="Shape 24"/>
          <p:cNvSpPr/>
          <p:nvPr/>
        </p:nvSpPr>
        <p:spPr>
          <a:xfrm>
            <a:off x="8224418" y="3566160"/>
            <a:ext cx="1503578" cy="502920"/>
          </a:xfrm>
          <a:prstGeom prst="rect">
            <a:avLst/>
          </a:prstGeom>
          <a:solidFill>
            <a:srgbClr val="C8102E"/>
          </a:solidFill>
          <a:ln/>
        </p:spPr>
        <p:txBody>
          <a:bodyPr/>
          <a:lstStyle/>
          <a:p>
            <a:endParaRPr lang="en-CA"/>
          </a:p>
        </p:txBody>
      </p:sp>
      <p:sp>
        <p:nvSpPr>
          <p:cNvPr id="27" name="Text 25"/>
          <p:cNvSpPr txBox="1"/>
          <p:nvPr/>
        </p:nvSpPr>
        <p:spPr>
          <a:xfrm>
            <a:off x="8224418" y="3566160"/>
            <a:ext cx="1503578"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Active</a:t>
            </a:r>
            <a:endParaRPr lang="en-US" sz="1300" dirty="0"/>
          </a:p>
        </p:txBody>
      </p:sp>
      <p:sp>
        <p:nvSpPr>
          <p:cNvPr id="28" name="Shape 26"/>
          <p:cNvSpPr/>
          <p:nvPr/>
        </p:nvSpPr>
        <p:spPr>
          <a:xfrm>
            <a:off x="9819437" y="3566160"/>
            <a:ext cx="1503578" cy="502920"/>
          </a:xfrm>
          <a:prstGeom prst="rect">
            <a:avLst/>
          </a:prstGeom>
          <a:solidFill>
            <a:srgbClr val="161E2B"/>
          </a:solidFill>
          <a:ln/>
        </p:spPr>
        <p:txBody>
          <a:bodyPr/>
          <a:lstStyle/>
          <a:p>
            <a:endParaRPr lang="en-CA"/>
          </a:p>
        </p:txBody>
      </p:sp>
      <p:sp>
        <p:nvSpPr>
          <p:cNvPr id="29" name="Text 27"/>
          <p:cNvSpPr txBox="1"/>
          <p:nvPr/>
        </p:nvSpPr>
        <p:spPr>
          <a:xfrm>
            <a:off x="9819437" y="3566160"/>
            <a:ext cx="1503578"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Recovery</a:t>
            </a:r>
            <a:endParaRPr lang="en-US" sz="1300" dirty="0"/>
          </a:p>
        </p:txBody>
      </p:sp>
      <p:sp>
        <p:nvSpPr>
          <p:cNvPr id="30" name="Text 28"/>
          <p:cNvSpPr txBox="1"/>
          <p:nvPr/>
        </p:nvSpPr>
        <p:spPr>
          <a:xfrm>
            <a:off x="6629400" y="4297680"/>
            <a:ext cx="4693615" cy="914400"/>
          </a:xfrm>
          <a:prstGeom prst="rect">
            <a:avLst/>
          </a:prstGeom>
          <a:noFill/>
          <a:ln/>
        </p:spPr>
        <p:txBody>
          <a:bodyPr wrap="square" lIns="0" tIns="0" rIns="0" bIns="0" rtlCol="0" anchor="t"/>
          <a:lstStyle/>
          <a:p>
            <a:pPr marL="0" indent="0">
              <a:buNone/>
            </a:pPr>
            <a:r>
              <a:rPr lang="en-US" sz="1300" dirty="0">
                <a:solidFill>
                  <a:srgbClr val="5B6475"/>
                </a:solidFill>
                <a:latin typeface="Calibri" pitchFamily="34" charset="0"/>
                <a:ea typeface="Calibri" pitchFamily="34" charset="-122"/>
                <a:cs typeface="Calibri" pitchFamily="34" charset="-120"/>
              </a:rPr>
              <a:t>Montages Drive Committed Attacks, Anim Notifies Open the Hit Windows for Limb Traces, and Limited Motion Warping Keeps Range Honest.</a:t>
            </a:r>
            <a:endParaRPr lang="en-US" sz="1300" dirty="0"/>
          </a:p>
        </p:txBody>
      </p:sp>
      <p:sp>
        <p:nvSpPr>
          <p:cNvPr id="31" name="Text 29"/>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05 · THE PLAN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Major Risks</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3968496"/>
        </p:xfrm>
        <a:graphic>
          <a:graphicData uri="http://schemas.openxmlformats.org/drawingml/2006/table">
            <a:tbl>
              <a:tblPr/>
              <a:tblGrid>
                <a:gridCol w="4206240">
                  <a:extLst>
                    <a:ext uri="{9D8B030D-6E8A-4147-A177-3AD203B41FA5}">
                      <a16:colId xmlns:a16="http://schemas.microsoft.com/office/drawing/2014/main" val="20000"/>
                    </a:ext>
                  </a:extLst>
                </a:gridCol>
                <a:gridCol w="6888175">
                  <a:extLst>
                    <a:ext uri="{9D8B030D-6E8A-4147-A177-3AD203B41FA5}">
                      <a16:colId xmlns:a16="http://schemas.microsoft.com/office/drawing/2014/main" val="20001"/>
                    </a:ext>
                  </a:extLst>
                </a:gridCol>
              </a:tblGrid>
              <a:tr h="56692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Risk</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0B1019"/>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Capture Struggles with Fast Kicks and Spins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Early Feasibility Test on a Roundhouse and a Spin Hook Kick, Comparing Methods and Solvers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Mocap Looks Right but Attacks Feel Slow</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Gameplay Timing Kept Separate from Performance Timing: Montages, Notifies, Warping</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Skill Stick Gestures Misread</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Prototype Gesture Recognition First, with an Input Debug Display and Practitioner Playtests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Animation Workload Grows Too Large</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Shared Transitions, Layering, Mirroring and a Tight Move List</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4"/>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Career Is a Second Mode for One Developer</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Reuses the Sparring Core; Events Are Data, So It Scales Down Without Code Changes</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buNone/>
                      </a:pPr>
                      <a:r>
                        <a:rPr lang="en-US" sz="1300" b="1" dirty="0">
                          <a:solidFill>
                            <a:srgbClr val="1A202C"/>
                          </a:solidFill>
                          <a:latin typeface="Calibri" pitchFamily="34" charset="0"/>
                          <a:ea typeface="Calibri" pitchFamily="34" charset="-122"/>
                          <a:cs typeface="Calibri" pitchFamily="34" charset="-120"/>
                        </a:rPr>
                        <a:t>No Console Devkits or Certification</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tc>
                  <a:txBody>
                    <a:bodyPr/>
                    <a:lstStyle/>
                    <a:p>
                      <a:pPr marL="0" indent="0">
                        <a:buNone/>
                      </a:pPr>
                      <a:r>
                        <a:rPr lang="en-US" sz="1300" dirty="0">
                          <a:solidFill>
                            <a:srgbClr val="1A202C"/>
                          </a:solidFill>
                          <a:latin typeface="Calibri" pitchFamily="34" charset="0"/>
                          <a:ea typeface="Calibri" pitchFamily="34" charset="-122"/>
                          <a:cs typeface="Calibri" pitchFamily="34" charset="-120"/>
                        </a:rPr>
                        <a:t>Windows Stays the Demo Platform; Nothing Depends on a Console-Only Feature</a:t>
                      </a:r>
                      <a:endParaRPr lang="en-US" sz="1300" dirty="0">
                        <a:latin typeface="Calibri" charset="0"/>
                        <a:ea typeface="Calibri" charset="0"/>
                        <a:cs typeface="Calibri" charset="0"/>
                      </a:endParaRPr>
                    </a:p>
                  </a:txBody>
                  <a:tcPr marL="137160" marR="137160" marT="73152" marB="7315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2F4F8"/>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05 · THE PLAN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Schedule and Milestones</a:t>
            </a:r>
            <a:endParaRPr lang="en-US" sz="3400" dirty="0"/>
          </a:p>
        </p:txBody>
      </p:sp>
      <p:sp>
        <p:nvSpPr>
          <p:cNvPr id="6" name="Shape 4"/>
          <p:cNvSpPr/>
          <p:nvPr/>
        </p:nvSpPr>
        <p:spPr>
          <a:xfrm>
            <a:off x="548640" y="1371600"/>
            <a:ext cx="4752213" cy="365760"/>
          </a:xfrm>
          <a:prstGeom prst="rect">
            <a:avLst/>
          </a:prstGeom>
          <a:solidFill>
            <a:srgbClr val="E6EDFA"/>
          </a:solidFill>
          <a:ln/>
        </p:spPr>
        <p:txBody>
          <a:bodyPr/>
          <a:lstStyle/>
          <a:p>
            <a:endParaRPr lang="en-CA"/>
          </a:p>
        </p:txBody>
      </p:sp>
      <p:sp>
        <p:nvSpPr>
          <p:cNvPr id="7" name="Shape 5"/>
          <p:cNvSpPr/>
          <p:nvPr/>
        </p:nvSpPr>
        <p:spPr>
          <a:xfrm>
            <a:off x="5300853" y="1371600"/>
            <a:ext cx="6342202" cy="365760"/>
          </a:xfrm>
          <a:prstGeom prst="rect">
            <a:avLst/>
          </a:prstGeom>
          <a:solidFill>
            <a:srgbClr val="FBE7EA"/>
          </a:solidFill>
          <a:ln/>
        </p:spPr>
        <p:txBody>
          <a:bodyPr/>
          <a:lstStyle/>
          <a:p>
            <a:endParaRPr lang="en-CA"/>
          </a:p>
        </p:txBody>
      </p:sp>
      <p:sp>
        <p:nvSpPr>
          <p:cNvPr id="8" name="Text 6"/>
          <p:cNvSpPr txBox="1"/>
          <p:nvPr/>
        </p:nvSpPr>
        <p:spPr>
          <a:xfrm>
            <a:off x="685800" y="1371600"/>
            <a:ext cx="3657600" cy="365760"/>
          </a:xfrm>
          <a:prstGeom prst="rect">
            <a:avLst/>
          </a:prstGeom>
          <a:noFill/>
          <a:ln/>
        </p:spPr>
        <p:txBody>
          <a:bodyPr wrap="square" lIns="0" tIns="0" rIns="0" bIns="0" rtlCol="0" anchor="ctr"/>
          <a:lstStyle/>
          <a:p>
            <a:pPr marL="0" indent="0">
              <a:buNone/>
            </a:pPr>
            <a:r>
              <a:rPr lang="en-US" sz="1100" b="1" kern="0" spc="100" dirty="0">
                <a:solidFill>
                  <a:srgbClr val="1F5BC4"/>
                </a:solidFill>
                <a:latin typeface="Calibri" pitchFamily="34" charset="0"/>
                <a:ea typeface="Calibri" pitchFamily="34" charset="-122"/>
                <a:cs typeface="Calibri" pitchFamily="34" charset="-120"/>
              </a:rPr>
              <a:t>FIRST HALF · Sparring Core</a:t>
            </a:r>
            <a:endParaRPr lang="en-US" sz="1100" dirty="0"/>
          </a:p>
        </p:txBody>
      </p:sp>
      <p:sp>
        <p:nvSpPr>
          <p:cNvPr id="9" name="Text 7"/>
          <p:cNvSpPr txBox="1"/>
          <p:nvPr/>
        </p:nvSpPr>
        <p:spPr>
          <a:xfrm>
            <a:off x="5438013" y="1371600"/>
            <a:ext cx="4572000" cy="365760"/>
          </a:xfrm>
          <a:prstGeom prst="rect">
            <a:avLst/>
          </a:prstGeom>
          <a:noFill/>
          <a:ln/>
        </p:spPr>
        <p:txBody>
          <a:bodyPr wrap="square" lIns="0" tIns="0" rIns="0" bIns="0" rtlCol="0" anchor="ctr"/>
          <a:lstStyle/>
          <a:p>
            <a:pPr marL="0" indent="0">
              <a:buNone/>
            </a:pPr>
            <a:r>
              <a:rPr lang="en-US" sz="1100" b="1" kern="0" spc="100" dirty="0">
                <a:solidFill>
                  <a:srgbClr val="C8102E"/>
                </a:solidFill>
                <a:latin typeface="Calibri" pitchFamily="34" charset="0"/>
                <a:ea typeface="Calibri" pitchFamily="34" charset="-122"/>
                <a:cs typeface="Calibri" pitchFamily="34" charset="-120"/>
              </a:rPr>
              <a:t>SECOND HALF · Career and Finish</a:t>
            </a:r>
            <a:endParaRPr lang="en-US" sz="1100" dirty="0"/>
          </a:p>
        </p:txBody>
      </p:sp>
      <p:sp>
        <p:nvSpPr>
          <p:cNvPr id="10" name="Shape 8"/>
          <p:cNvSpPr/>
          <p:nvPr/>
        </p:nvSpPr>
        <p:spPr>
          <a:xfrm>
            <a:off x="1325880" y="2788920"/>
            <a:ext cx="9539935" cy="0"/>
          </a:xfrm>
          <a:prstGeom prst="line">
            <a:avLst/>
          </a:prstGeom>
          <a:noFill/>
          <a:ln w="25400">
            <a:solidFill>
              <a:srgbClr val="D9DEE7"/>
            </a:solidFill>
            <a:prstDash val="solid"/>
          </a:ln>
        </p:spPr>
        <p:txBody>
          <a:bodyPr/>
          <a:lstStyle/>
          <a:p>
            <a:endParaRPr lang="en-CA"/>
          </a:p>
        </p:txBody>
      </p:sp>
      <p:sp>
        <p:nvSpPr>
          <p:cNvPr id="11" name="Shape 9"/>
          <p:cNvSpPr/>
          <p:nvPr/>
        </p:nvSpPr>
        <p:spPr>
          <a:xfrm>
            <a:off x="1133856" y="2596896"/>
            <a:ext cx="384048" cy="384048"/>
          </a:xfrm>
          <a:prstGeom prst="ellipse">
            <a:avLst/>
          </a:prstGeom>
          <a:solidFill>
            <a:srgbClr val="1F5BC4"/>
          </a:solidFill>
          <a:ln w="25400">
            <a:solidFill>
              <a:srgbClr val="FFFFFF"/>
            </a:solidFill>
            <a:prstDash val="solid"/>
          </a:ln>
        </p:spPr>
        <p:txBody>
          <a:bodyPr/>
          <a:lstStyle/>
          <a:p>
            <a:endParaRPr lang="en-CA"/>
          </a:p>
        </p:txBody>
      </p:sp>
      <p:sp>
        <p:nvSpPr>
          <p:cNvPr id="12" name="Text 10"/>
          <p:cNvSpPr txBox="1"/>
          <p:nvPr/>
        </p:nvSpPr>
        <p:spPr>
          <a:xfrm>
            <a:off x="576605"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GDD Drafts</a:t>
            </a:r>
            <a:endParaRPr lang="en-US" sz="1600" dirty="0"/>
          </a:p>
        </p:txBody>
      </p:sp>
      <p:sp>
        <p:nvSpPr>
          <p:cNvPr id="13" name="Text 11"/>
          <p:cNvSpPr txBox="1"/>
          <p:nvPr/>
        </p:nvSpPr>
        <p:spPr>
          <a:xfrm>
            <a:off x="576605" y="3108960"/>
            <a:ext cx="1498549" cy="274320"/>
          </a:xfrm>
          <a:prstGeom prst="rect">
            <a:avLst/>
          </a:prstGeom>
          <a:noFill/>
          <a:ln/>
        </p:spPr>
        <p:txBody>
          <a:bodyPr wrap="square" lIns="0" tIns="0" rIns="0" bIns="0" rtlCol="0" anchor="t"/>
          <a:lstStyle/>
          <a:p>
            <a:pPr marL="0" indent="0" algn="ctr">
              <a:buNone/>
            </a:pPr>
            <a:r>
              <a:rPr lang="en-US" sz="1200" b="1" dirty="0">
                <a:solidFill>
                  <a:srgbClr val="1F5BC4"/>
                </a:solidFill>
                <a:latin typeface="Calibri" pitchFamily="34" charset="0"/>
                <a:ea typeface="Calibri" pitchFamily="34" charset="-122"/>
                <a:cs typeface="Calibri" pitchFamily="34" charset="-120"/>
              </a:rPr>
              <a:t>Now · Sep–Nov</a:t>
            </a:r>
            <a:endParaRPr lang="en-US" sz="1200" dirty="0"/>
          </a:p>
        </p:txBody>
      </p:sp>
      <p:sp>
        <p:nvSpPr>
          <p:cNvPr id="14" name="Text 12"/>
          <p:cNvSpPr txBox="1"/>
          <p:nvPr/>
        </p:nvSpPr>
        <p:spPr>
          <a:xfrm>
            <a:off x="576605"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Draft 1 (21 Sep) to Final Draft (30 Nov)</a:t>
            </a:r>
            <a:endParaRPr lang="en-US" sz="1200" dirty="0"/>
          </a:p>
        </p:txBody>
      </p:sp>
      <p:sp>
        <p:nvSpPr>
          <p:cNvPr id="15" name="Shape 13"/>
          <p:cNvSpPr/>
          <p:nvPr/>
        </p:nvSpPr>
        <p:spPr>
          <a:xfrm>
            <a:off x="2778709" y="2651760"/>
            <a:ext cx="274320" cy="274320"/>
          </a:xfrm>
          <a:prstGeom prst="ellipse">
            <a:avLst/>
          </a:prstGeom>
          <a:solidFill>
            <a:srgbClr val="1F5BC4"/>
          </a:solidFill>
          <a:ln w="25400">
            <a:solidFill>
              <a:srgbClr val="FFFFFF"/>
            </a:solidFill>
            <a:prstDash val="solid"/>
          </a:ln>
        </p:spPr>
        <p:txBody>
          <a:bodyPr/>
          <a:lstStyle/>
          <a:p>
            <a:endParaRPr lang="en-CA"/>
          </a:p>
        </p:txBody>
      </p:sp>
      <p:sp>
        <p:nvSpPr>
          <p:cNvPr id="16" name="Text 14"/>
          <p:cNvSpPr txBox="1"/>
          <p:nvPr/>
        </p:nvSpPr>
        <p:spPr>
          <a:xfrm>
            <a:off x="2166595"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M1</a:t>
            </a:r>
            <a:endParaRPr lang="en-US" sz="1600" dirty="0"/>
          </a:p>
        </p:txBody>
      </p:sp>
      <p:sp>
        <p:nvSpPr>
          <p:cNvPr id="17" name="Text 15"/>
          <p:cNvSpPr txBox="1"/>
          <p:nvPr/>
        </p:nvSpPr>
        <p:spPr>
          <a:xfrm>
            <a:off x="2166595" y="3108960"/>
            <a:ext cx="1498549" cy="274320"/>
          </a:xfrm>
          <a:prstGeom prst="rect">
            <a:avLst/>
          </a:prstGeom>
          <a:noFill/>
          <a:ln/>
        </p:spPr>
        <p:txBody>
          <a:bodyPr wrap="square" lIns="0" tIns="0" rIns="0" bIns="0" rtlCol="0" anchor="t"/>
          <a:lstStyle/>
          <a:p>
            <a:pPr marL="0" indent="0" algn="ctr">
              <a:buNone/>
            </a:pPr>
            <a:r>
              <a:rPr lang="en-US" sz="1200" b="1" dirty="0">
                <a:solidFill>
                  <a:srgbClr val="1F5BC4"/>
                </a:solidFill>
                <a:latin typeface="Calibri" pitchFamily="34" charset="0"/>
                <a:ea typeface="Calibri" pitchFamily="34" charset="-122"/>
                <a:cs typeface="Calibri" pitchFamily="34" charset="-120"/>
              </a:rPr>
              <a:t>Due 9 Nov 2026</a:t>
            </a:r>
            <a:endParaRPr lang="en-US" sz="1200" dirty="0"/>
          </a:p>
        </p:txBody>
      </p:sp>
      <p:sp>
        <p:nvSpPr>
          <p:cNvPr id="18" name="Text 16"/>
          <p:cNvSpPr txBox="1"/>
          <p:nvPr/>
        </p:nvSpPr>
        <p:spPr>
          <a:xfrm>
            <a:off x="2166595"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Skill Stick and Mocap Proof of Concept</a:t>
            </a:r>
            <a:endParaRPr lang="en-US" sz="1200" dirty="0"/>
          </a:p>
        </p:txBody>
      </p:sp>
      <p:sp>
        <p:nvSpPr>
          <p:cNvPr id="19" name="Shape 17"/>
          <p:cNvSpPr/>
          <p:nvPr/>
        </p:nvSpPr>
        <p:spPr>
          <a:xfrm>
            <a:off x="4368698" y="2651760"/>
            <a:ext cx="274320" cy="274320"/>
          </a:xfrm>
          <a:prstGeom prst="ellipse">
            <a:avLst/>
          </a:prstGeom>
          <a:solidFill>
            <a:srgbClr val="1F5BC4"/>
          </a:solidFill>
          <a:ln w="25400">
            <a:solidFill>
              <a:srgbClr val="FFFFFF"/>
            </a:solidFill>
            <a:prstDash val="solid"/>
          </a:ln>
        </p:spPr>
        <p:txBody>
          <a:bodyPr/>
          <a:lstStyle/>
          <a:p>
            <a:endParaRPr lang="en-CA"/>
          </a:p>
        </p:txBody>
      </p:sp>
      <p:sp>
        <p:nvSpPr>
          <p:cNvPr id="20" name="Text 18"/>
          <p:cNvSpPr txBox="1"/>
          <p:nvPr/>
        </p:nvSpPr>
        <p:spPr>
          <a:xfrm>
            <a:off x="3756584"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M2</a:t>
            </a:r>
            <a:endParaRPr lang="en-US" sz="1600" dirty="0"/>
          </a:p>
        </p:txBody>
      </p:sp>
      <p:sp>
        <p:nvSpPr>
          <p:cNvPr id="21" name="Text 19"/>
          <p:cNvSpPr txBox="1"/>
          <p:nvPr/>
        </p:nvSpPr>
        <p:spPr>
          <a:xfrm>
            <a:off x="3756584" y="3108960"/>
            <a:ext cx="1498549" cy="274320"/>
          </a:xfrm>
          <a:prstGeom prst="rect">
            <a:avLst/>
          </a:prstGeom>
          <a:noFill/>
          <a:ln/>
        </p:spPr>
        <p:txBody>
          <a:bodyPr wrap="square" lIns="0" tIns="0" rIns="0" bIns="0" rtlCol="0" anchor="t"/>
          <a:lstStyle/>
          <a:p>
            <a:pPr marL="0" indent="0" algn="ctr">
              <a:buNone/>
            </a:pPr>
            <a:r>
              <a:rPr lang="en-US" sz="1200" b="1" dirty="0">
                <a:solidFill>
                  <a:srgbClr val="1F5BC4"/>
                </a:solidFill>
                <a:latin typeface="Calibri" pitchFamily="34" charset="0"/>
                <a:ea typeface="Calibri" pitchFamily="34" charset="-122"/>
                <a:cs typeface="Calibri" pitchFamily="34" charset="-120"/>
              </a:rPr>
              <a:t>Due 7 Dec 2026</a:t>
            </a:r>
            <a:endParaRPr lang="en-US" sz="1200" dirty="0"/>
          </a:p>
        </p:txBody>
      </p:sp>
      <p:sp>
        <p:nvSpPr>
          <p:cNvPr id="22" name="Text 20"/>
          <p:cNvSpPr txBox="1"/>
          <p:nvPr/>
        </p:nvSpPr>
        <p:spPr>
          <a:xfrm>
            <a:off x="3756584"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Two Local Players Finish a Match: First Playable</a:t>
            </a:r>
            <a:endParaRPr lang="en-US" sz="1200" dirty="0"/>
          </a:p>
        </p:txBody>
      </p:sp>
      <p:sp>
        <p:nvSpPr>
          <p:cNvPr id="23" name="Shape 21"/>
          <p:cNvSpPr/>
          <p:nvPr/>
        </p:nvSpPr>
        <p:spPr>
          <a:xfrm>
            <a:off x="5958688"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24" name="Text 22"/>
          <p:cNvSpPr txBox="1"/>
          <p:nvPr/>
        </p:nvSpPr>
        <p:spPr>
          <a:xfrm>
            <a:off x="5346573"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M3</a:t>
            </a:r>
            <a:endParaRPr lang="en-US" sz="1600" dirty="0"/>
          </a:p>
        </p:txBody>
      </p:sp>
      <p:sp>
        <p:nvSpPr>
          <p:cNvPr id="25" name="Text 23"/>
          <p:cNvSpPr txBox="1"/>
          <p:nvPr/>
        </p:nvSpPr>
        <p:spPr>
          <a:xfrm>
            <a:off x="5346573"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Winter 2027</a:t>
            </a:r>
            <a:endParaRPr lang="en-US" sz="1200" dirty="0"/>
          </a:p>
        </p:txBody>
      </p:sp>
      <p:sp>
        <p:nvSpPr>
          <p:cNvPr id="26" name="Text 24"/>
          <p:cNvSpPr txBox="1"/>
          <p:nvPr/>
        </p:nvSpPr>
        <p:spPr>
          <a:xfrm>
            <a:off x="5346573"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Full Combat with the Production Mocap Library</a:t>
            </a:r>
            <a:endParaRPr lang="en-US" sz="1200" dirty="0"/>
          </a:p>
        </p:txBody>
      </p:sp>
      <p:sp>
        <p:nvSpPr>
          <p:cNvPr id="27" name="Shape 25"/>
          <p:cNvSpPr/>
          <p:nvPr/>
        </p:nvSpPr>
        <p:spPr>
          <a:xfrm>
            <a:off x="7548677"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28" name="Text 26"/>
          <p:cNvSpPr txBox="1"/>
          <p:nvPr/>
        </p:nvSpPr>
        <p:spPr>
          <a:xfrm>
            <a:off x="6936562"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M4</a:t>
            </a:r>
            <a:endParaRPr lang="en-US" sz="1600" dirty="0"/>
          </a:p>
        </p:txBody>
      </p:sp>
      <p:sp>
        <p:nvSpPr>
          <p:cNvPr id="29" name="Text 27"/>
          <p:cNvSpPr txBox="1"/>
          <p:nvPr/>
        </p:nvSpPr>
        <p:spPr>
          <a:xfrm>
            <a:off x="6936562"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Winter 2027</a:t>
            </a:r>
            <a:endParaRPr lang="en-US" sz="1200" dirty="0"/>
          </a:p>
        </p:txBody>
      </p:sp>
      <p:sp>
        <p:nvSpPr>
          <p:cNvPr id="30" name="Text 28"/>
          <p:cNvSpPr txBox="1"/>
          <p:nvPr/>
        </p:nvSpPr>
        <p:spPr>
          <a:xfrm>
            <a:off x="6936562"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Game Flow, AI, Tournament and a Career Season</a:t>
            </a:r>
            <a:endParaRPr lang="en-US" sz="1200" dirty="0"/>
          </a:p>
        </p:txBody>
      </p:sp>
      <p:sp>
        <p:nvSpPr>
          <p:cNvPr id="31" name="Shape 29"/>
          <p:cNvSpPr/>
          <p:nvPr/>
        </p:nvSpPr>
        <p:spPr>
          <a:xfrm>
            <a:off x="9138666"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32" name="Text 30"/>
          <p:cNvSpPr txBox="1"/>
          <p:nvPr/>
        </p:nvSpPr>
        <p:spPr>
          <a:xfrm>
            <a:off x="8526551"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M5</a:t>
            </a:r>
            <a:endParaRPr lang="en-US" sz="1600" dirty="0"/>
          </a:p>
        </p:txBody>
      </p:sp>
      <p:sp>
        <p:nvSpPr>
          <p:cNvPr id="33" name="Text 31"/>
          <p:cNvSpPr txBox="1"/>
          <p:nvPr/>
        </p:nvSpPr>
        <p:spPr>
          <a:xfrm>
            <a:off x="8526551"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Spring 2027</a:t>
            </a:r>
            <a:endParaRPr lang="en-US" sz="1200" dirty="0"/>
          </a:p>
        </p:txBody>
      </p:sp>
      <p:sp>
        <p:nvSpPr>
          <p:cNvPr id="34" name="Text 32"/>
          <p:cNvSpPr txBox="1"/>
          <p:nvPr/>
        </p:nvSpPr>
        <p:spPr>
          <a:xfrm>
            <a:off x="8526551"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Beta Testing, Balance, Polish</a:t>
            </a:r>
            <a:endParaRPr lang="en-US" sz="1200" dirty="0"/>
          </a:p>
        </p:txBody>
      </p:sp>
      <p:sp>
        <p:nvSpPr>
          <p:cNvPr id="35" name="Shape 33"/>
          <p:cNvSpPr/>
          <p:nvPr/>
        </p:nvSpPr>
        <p:spPr>
          <a:xfrm>
            <a:off x="10728655" y="2651760"/>
            <a:ext cx="274320" cy="274320"/>
          </a:xfrm>
          <a:prstGeom prst="ellipse">
            <a:avLst/>
          </a:prstGeom>
          <a:solidFill>
            <a:srgbClr val="C8102E"/>
          </a:solidFill>
          <a:ln w="25400">
            <a:solidFill>
              <a:srgbClr val="FFFFFF"/>
            </a:solidFill>
            <a:prstDash val="solid"/>
          </a:ln>
        </p:spPr>
        <p:txBody>
          <a:bodyPr/>
          <a:lstStyle/>
          <a:p>
            <a:endParaRPr lang="en-CA"/>
          </a:p>
        </p:txBody>
      </p:sp>
      <p:sp>
        <p:nvSpPr>
          <p:cNvPr id="36" name="Text 34"/>
          <p:cNvSpPr txBox="1"/>
          <p:nvPr/>
        </p:nvSpPr>
        <p:spPr>
          <a:xfrm>
            <a:off x="10116541" y="2057400"/>
            <a:ext cx="1498549" cy="365760"/>
          </a:xfrm>
          <a:prstGeom prst="rect">
            <a:avLst/>
          </a:prstGeom>
          <a:noFill/>
          <a:ln/>
        </p:spPr>
        <p:txBody>
          <a:bodyPr wrap="square" lIns="0" tIns="0" rIns="0" bIns="0" rtlCol="0" anchor="t"/>
          <a:lstStyle/>
          <a:p>
            <a:pPr marL="0" indent="0" algn="ctr">
              <a:buNone/>
            </a:pPr>
            <a:r>
              <a:rPr lang="en-US" sz="1600" b="1" dirty="0">
                <a:solidFill>
                  <a:srgbClr val="1A202C"/>
                </a:solidFill>
                <a:latin typeface="Arial" pitchFamily="34" charset="0"/>
                <a:ea typeface="Arial" pitchFamily="34" charset="-122"/>
                <a:cs typeface="Arial" pitchFamily="34" charset="-120"/>
              </a:rPr>
              <a:t>Final</a:t>
            </a:r>
            <a:endParaRPr lang="en-US" sz="1600" dirty="0"/>
          </a:p>
        </p:txBody>
      </p:sp>
      <p:sp>
        <p:nvSpPr>
          <p:cNvPr id="37" name="Text 35"/>
          <p:cNvSpPr txBox="1"/>
          <p:nvPr/>
        </p:nvSpPr>
        <p:spPr>
          <a:xfrm>
            <a:off x="10116541" y="3108960"/>
            <a:ext cx="1498549" cy="274320"/>
          </a:xfrm>
          <a:prstGeom prst="rect">
            <a:avLst/>
          </a:prstGeom>
          <a:noFill/>
          <a:ln/>
        </p:spPr>
        <p:txBody>
          <a:bodyPr wrap="square" lIns="0" tIns="0" rIns="0" bIns="0" rtlCol="0" anchor="t"/>
          <a:lstStyle/>
          <a:p>
            <a:pPr marL="0" indent="0" algn="ctr">
              <a:buNone/>
            </a:pPr>
            <a:r>
              <a:rPr lang="en-US" sz="1200" b="1" dirty="0">
                <a:solidFill>
                  <a:srgbClr val="C8102E"/>
                </a:solidFill>
                <a:latin typeface="Calibri" pitchFamily="34" charset="0"/>
                <a:ea typeface="Calibri" pitchFamily="34" charset="-122"/>
                <a:cs typeface="Calibri" pitchFamily="34" charset="-120"/>
              </a:rPr>
              <a:t>Spring 2027</a:t>
            </a:r>
            <a:endParaRPr lang="en-US" sz="1200" dirty="0"/>
          </a:p>
        </p:txBody>
      </p:sp>
      <p:sp>
        <p:nvSpPr>
          <p:cNvPr id="38" name="Text 36"/>
          <p:cNvSpPr txBox="1"/>
          <p:nvPr/>
        </p:nvSpPr>
        <p:spPr>
          <a:xfrm>
            <a:off x="10116541" y="3429000"/>
            <a:ext cx="1498549" cy="1097280"/>
          </a:xfrm>
          <a:prstGeom prst="rect">
            <a:avLst/>
          </a:prstGeom>
          <a:noFill/>
          <a:ln/>
        </p:spPr>
        <p:txBody>
          <a:bodyPr wrap="square" lIns="0" tIns="0" rIns="0" bIns="0" rtlCol="0" anchor="t"/>
          <a:lstStyle/>
          <a:p>
            <a:pPr marL="0" indent="0" algn="ctr">
              <a:buNone/>
            </a:pPr>
            <a:r>
              <a:rPr lang="en-US" sz="1200" dirty="0">
                <a:solidFill>
                  <a:srgbClr val="1A202C"/>
                </a:solidFill>
                <a:latin typeface="Calibri" pitchFamily="34" charset="0"/>
                <a:ea typeface="Calibri" pitchFamily="34" charset="-122"/>
                <a:cs typeface="Calibri" pitchFamily="34" charset="-120"/>
              </a:rPr>
              <a:t>Gold Build, Demo and Final Report</a:t>
            </a:r>
            <a:endParaRPr lang="en-US" sz="1200" dirty="0"/>
          </a:p>
        </p:txBody>
      </p:sp>
      <p:sp>
        <p:nvSpPr>
          <p:cNvPr id="39" name="Shape 37"/>
          <p:cNvSpPr/>
          <p:nvPr/>
        </p:nvSpPr>
        <p:spPr>
          <a:xfrm>
            <a:off x="548640" y="4663440"/>
            <a:ext cx="11094415" cy="960120"/>
          </a:xfrm>
          <a:prstGeom prst="roundRect">
            <a:avLst>
              <a:gd name="adj" fmla="val 7619"/>
            </a:avLst>
          </a:prstGeom>
          <a:solidFill>
            <a:srgbClr val="F2F4F8"/>
          </a:solidFill>
          <a:ln/>
        </p:spPr>
        <p:txBody>
          <a:bodyPr/>
          <a:lstStyle/>
          <a:p>
            <a:endParaRPr lang="en-CA"/>
          </a:p>
        </p:txBody>
      </p:sp>
      <p:sp>
        <p:nvSpPr>
          <p:cNvPr id="40" name="Text 38"/>
          <p:cNvSpPr txBox="1"/>
          <p:nvPr/>
        </p:nvSpPr>
        <p:spPr>
          <a:xfrm>
            <a:off x="822960" y="4663440"/>
            <a:ext cx="10545775" cy="960120"/>
          </a:xfrm>
          <a:prstGeom prst="rect">
            <a:avLst/>
          </a:prstGeom>
          <a:noFill/>
          <a:ln/>
        </p:spPr>
        <p:txBody>
          <a:bodyPr wrap="square" lIns="0" tIns="0" rIns="0" bIns="0" rtlCol="0" anchor="ctr"/>
          <a:lstStyle/>
          <a:p>
            <a:pPr marL="0" indent="0">
              <a:buNone/>
            </a:pPr>
            <a:r>
              <a:rPr lang="en-US" sz="1300" b="1" dirty="0">
                <a:solidFill>
                  <a:srgbClr val="1A202C"/>
                </a:solidFill>
                <a:latin typeface="Calibri" pitchFamily="34" charset="0"/>
                <a:ea typeface="Calibri" pitchFamily="34" charset="-122"/>
                <a:cs typeface="Calibri" pitchFamily="34" charset="-120"/>
              </a:rPr>
              <a:t>v1.0 Content  </a:t>
            </a:r>
            <a:r>
              <a:rPr lang="en-US" sz="1300" dirty="0">
                <a:solidFill>
                  <a:srgbClr val="1A202C"/>
                </a:solidFill>
                <a:latin typeface="Calibri" pitchFamily="34" charset="0"/>
                <a:ea typeface="Calibri" pitchFamily="34" charset="-122"/>
                <a:cs typeface="Calibri" pitchFamily="34" charset="-120"/>
              </a:rPr>
              <a:t>1–2 Premade Fighters and Five Body Types · Arena, Training Dojang and a Venue per Career Tier · 8–12 Captured Techniques · Sparring, Training and Local Tournament · AI Opponent · Career Seasons. December 2026 Break Is a Buffer for Mocap Production.</a:t>
            </a:r>
            <a:endParaRPr lang="en-US" sz="1300" dirty="0"/>
          </a:p>
        </p:txBody>
      </p:sp>
      <p:sp>
        <p:nvSpPr>
          <p:cNvPr id="42" name="Text 39"/>
          <p:cNvSpPr txBox="1"/>
          <p:nvPr/>
        </p:nvSpPr>
        <p:spPr>
          <a:xfrm>
            <a:off x="11094415" y="6446520"/>
            <a:ext cx="548640" cy="228600"/>
          </a:xfrm>
          <a:prstGeom prst="rect">
            <a:avLst/>
          </a:prstGeom>
          <a:noFill/>
          <a:ln/>
        </p:spPr>
        <p:txBody>
          <a:bodyPr wrap="square" lIns="0" tIns="0" rIns="0" bIns="0" rtlCol="0" anchor="t"/>
          <a:lstStyle/>
          <a:p>
            <a:pPr marL="0" indent="0" algn="r">
              <a:buNone/>
            </a:pPr>
            <a:r>
              <a:rPr lang="en-US" sz="1000" dirty="0">
                <a:solidFill>
                  <a:srgbClr val="9AA3B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246888"/>
            <a:ext cx="128016" cy="128016"/>
          </a:xfrm>
          <a:prstGeom prst="ellipse">
            <a:avLst/>
          </a:prstGeom>
          <a:solidFill>
            <a:srgbClr val="1F5BC4"/>
          </a:solidFill>
          <a:ln/>
        </p:spPr>
        <p:txBody>
          <a:bodyPr/>
          <a:lstStyle/>
          <a:p>
            <a:endParaRPr lang="en-CA"/>
          </a:p>
        </p:txBody>
      </p:sp>
      <p:sp>
        <p:nvSpPr>
          <p:cNvPr id="3" name="Shape 1"/>
          <p:cNvSpPr/>
          <p:nvPr/>
        </p:nvSpPr>
        <p:spPr>
          <a:xfrm>
            <a:off x="722376" y="246888"/>
            <a:ext cx="128016" cy="128016"/>
          </a:xfrm>
          <a:prstGeom prst="ellipse">
            <a:avLst/>
          </a:prstGeom>
          <a:solidFill>
            <a:srgbClr val="C8102E"/>
          </a:solidFill>
          <a:ln/>
        </p:spPr>
        <p:txBody>
          <a:bodyPr/>
          <a:lstStyle/>
          <a:p>
            <a:endParaRPr lang="en-CA"/>
          </a:p>
        </p:txBody>
      </p:sp>
      <p:sp>
        <p:nvSpPr>
          <p:cNvPr id="4" name="Text 2"/>
          <p:cNvSpPr txBox="1"/>
          <p:nvPr/>
        </p:nvSpPr>
        <p:spPr>
          <a:xfrm>
            <a:off x="960120" y="182880"/>
            <a:ext cx="7315200" cy="256032"/>
          </a:xfrm>
          <a:prstGeom prst="rect">
            <a:avLst/>
          </a:prstGeom>
          <a:noFill/>
          <a:ln/>
        </p:spPr>
        <p:txBody>
          <a:bodyPr wrap="square" lIns="0" tIns="0" rIns="0" bIns="0" rtlCol="0" anchor="ctr"/>
          <a:lstStyle/>
          <a:p>
            <a:pPr marL="0" indent="0">
              <a:buNone/>
            </a:pPr>
            <a:r>
              <a:rPr lang="en-US" sz="1100" b="1" kern="0" spc="200" dirty="0">
                <a:solidFill>
                  <a:srgbClr val="5B6475"/>
                </a:solidFill>
                <a:latin typeface="Calibri" pitchFamily="34" charset="0"/>
                <a:ea typeface="Calibri" pitchFamily="34" charset="-122"/>
                <a:cs typeface="Calibri" pitchFamily="34" charset="-120"/>
              </a:rPr>
              <a:t>05 · THE PLAN</a:t>
            </a:r>
            <a:endParaRPr lang="en-US" sz="1100" dirty="0"/>
          </a:p>
        </p:txBody>
      </p:sp>
      <p:sp>
        <p:nvSpPr>
          <p:cNvPr id="5" name="Text 3"/>
          <p:cNvSpPr txBox="1"/>
          <p:nvPr/>
        </p:nvSpPr>
        <p:spPr>
          <a:xfrm>
            <a:off x="548640" y="411480"/>
            <a:ext cx="11094415" cy="731520"/>
          </a:xfrm>
          <a:prstGeom prst="rect">
            <a:avLst/>
          </a:prstGeom>
          <a:noFill/>
          <a:ln/>
        </p:spPr>
        <p:txBody>
          <a:bodyPr wrap="square" lIns="0" tIns="0" rIns="0" bIns="0" rtlCol="0" anchor="ctr"/>
          <a:lstStyle/>
          <a:p>
            <a:pPr marL="0" indent="0">
              <a:buNone/>
            </a:pPr>
            <a:r>
              <a:rPr lang="en-US" sz="3400" b="1" dirty="0">
                <a:solidFill>
                  <a:srgbClr val="1A202C"/>
                </a:solidFill>
                <a:latin typeface="Arial" pitchFamily="34" charset="0"/>
                <a:ea typeface="Arial" pitchFamily="34" charset="-122"/>
                <a:cs typeface="Arial" pitchFamily="34" charset="-120"/>
              </a:rPr>
              <a:t>Where Things Stand</a:t>
            </a:r>
            <a:endParaRPr lang="en-US" sz="3400" dirty="0"/>
          </a:p>
        </p:txBody>
      </p:sp>
      <p:sp>
        <p:nvSpPr>
          <p:cNvPr id="6" name="Shape 4"/>
          <p:cNvSpPr/>
          <p:nvPr/>
        </p:nvSpPr>
        <p:spPr>
          <a:xfrm>
            <a:off x="548640" y="1371600"/>
            <a:ext cx="3515258" cy="4069080"/>
          </a:xfrm>
          <a:prstGeom prst="roundRect">
            <a:avLst>
              <a:gd name="adj" fmla="val 2081"/>
            </a:avLst>
          </a:prstGeom>
          <a:solidFill>
            <a:srgbClr val="F2F4F8"/>
          </a:solidFill>
          <a:ln/>
        </p:spPr>
        <p:txBody>
          <a:bodyPr/>
          <a:lstStyle/>
          <a:p>
            <a:endParaRPr lang="en-CA"/>
          </a:p>
        </p:txBody>
      </p:sp>
      <p:sp>
        <p:nvSpPr>
          <p:cNvPr id="7" name="Shape 5"/>
          <p:cNvSpPr/>
          <p:nvPr/>
        </p:nvSpPr>
        <p:spPr>
          <a:xfrm>
            <a:off x="822960" y="1700784"/>
            <a:ext cx="201168" cy="201168"/>
          </a:xfrm>
          <a:prstGeom prst="ellipse">
            <a:avLst/>
          </a:prstGeom>
          <a:solidFill>
            <a:srgbClr val="1F5BC4"/>
          </a:solidFill>
          <a:ln/>
        </p:spPr>
        <p:txBody>
          <a:bodyPr/>
          <a:lstStyle/>
          <a:p>
            <a:endParaRPr lang="en-CA"/>
          </a:p>
        </p:txBody>
      </p:sp>
      <p:sp>
        <p:nvSpPr>
          <p:cNvPr id="8" name="Text 6"/>
          <p:cNvSpPr txBox="1"/>
          <p:nvPr/>
        </p:nvSpPr>
        <p:spPr>
          <a:xfrm>
            <a:off x="1143000" y="1600200"/>
            <a:ext cx="2692298" cy="411480"/>
          </a:xfrm>
          <a:prstGeom prst="rect">
            <a:avLst/>
          </a:prstGeom>
          <a:noFill/>
          <a:ln/>
        </p:spPr>
        <p:txBody>
          <a:bodyPr wrap="square" lIns="0" tIns="0" rIns="0" bIns="0" rtlCol="0" anchor="ctr"/>
          <a:lstStyle/>
          <a:p>
            <a:pPr marL="0" indent="0">
              <a:buNone/>
            </a:pPr>
            <a:r>
              <a:rPr lang="en-US" sz="1800" b="1" dirty="0">
                <a:solidFill>
                  <a:srgbClr val="1A202C"/>
                </a:solidFill>
                <a:latin typeface="Arial" pitchFamily="34" charset="0"/>
                <a:ea typeface="Arial" pitchFamily="34" charset="-122"/>
                <a:cs typeface="Arial" pitchFamily="34" charset="-120"/>
              </a:rPr>
              <a:t>Done</a:t>
            </a:r>
            <a:endParaRPr lang="en-US" sz="1800" dirty="0"/>
          </a:p>
        </p:txBody>
      </p:sp>
      <p:sp>
        <p:nvSpPr>
          <p:cNvPr id="9" name="Text 7"/>
          <p:cNvSpPr txBox="1"/>
          <p:nvPr/>
        </p:nvSpPr>
        <p:spPr>
          <a:xfrm>
            <a:off x="822960" y="2194560"/>
            <a:ext cx="3012338" cy="31089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Preliminary Project Plan</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Controller Layout Fixed (14 Sep)</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Base MetaHuman Fighter in Seven Gear Pieces, Range-of-Motion Tested</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Six MetaHuman Referees with Cloth</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Arena and Dojang Staging Levels</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Mocap Shot List Planned</a:t>
            </a:r>
            <a:endParaRPr lang="en-US" sz="1500" dirty="0"/>
          </a:p>
        </p:txBody>
      </p:sp>
      <p:sp>
        <p:nvSpPr>
          <p:cNvPr id="10" name="Shape 8"/>
          <p:cNvSpPr/>
          <p:nvPr/>
        </p:nvSpPr>
        <p:spPr>
          <a:xfrm>
            <a:off x="4338218" y="1371600"/>
            <a:ext cx="3515258" cy="4069080"/>
          </a:xfrm>
          <a:prstGeom prst="roundRect">
            <a:avLst>
              <a:gd name="adj" fmla="val 2081"/>
            </a:avLst>
          </a:prstGeom>
          <a:solidFill>
            <a:srgbClr val="F2F4F8"/>
          </a:solidFill>
          <a:ln/>
        </p:spPr>
        <p:txBody>
          <a:bodyPr/>
          <a:lstStyle/>
          <a:p>
            <a:endParaRPr lang="en-CA"/>
          </a:p>
        </p:txBody>
      </p:sp>
      <p:sp>
        <p:nvSpPr>
          <p:cNvPr id="11" name="Shape 9"/>
          <p:cNvSpPr/>
          <p:nvPr/>
        </p:nvSpPr>
        <p:spPr>
          <a:xfrm>
            <a:off x="4612538" y="1700784"/>
            <a:ext cx="201168" cy="201168"/>
          </a:xfrm>
          <a:prstGeom prst="ellipse">
            <a:avLst/>
          </a:prstGeom>
          <a:solidFill>
            <a:srgbClr val="161E2B"/>
          </a:solidFill>
          <a:ln/>
        </p:spPr>
        <p:txBody>
          <a:bodyPr/>
          <a:lstStyle/>
          <a:p>
            <a:endParaRPr lang="en-CA"/>
          </a:p>
        </p:txBody>
      </p:sp>
      <p:sp>
        <p:nvSpPr>
          <p:cNvPr id="12" name="Text 10"/>
          <p:cNvSpPr txBox="1"/>
          <p:nvPr/>
        </p:nvSpPr>
        <p:spPr>
          <a:xfrm>
            <a:off x="4932578" y="1600200"/>
            <a:ext cx="2692298" cy="411480"/>
          </a:xfrm>
          <a:prstGeom prst="rect">
            <a:avLst/>
          </a:prstGeom>
          <a:noFill/>
          <a:ln/>
        </p:spPr>
        <p:txBody>
          <a:bodyPr wrap="square" lIns="0" tIns="0" rIns="0" bIns="0" rtlCol="0" anchor="ctr"/>
          <a:lstStyle/>
          <a:p>
            <a:pPr marL="0" indent="0">
              <a:buNone/>
            </a:pPr>
            <a:r>
              <a:rPr lang="en-US" sz="1800" b="1" dirty="0">
                <a:solidFill>
                  <a:srgbClr val="1A202C"/>
                </a:solidFill>
                <a:latin typeface="Arial" pitchFamily="34" charset="0"/>
                <a:ea typeface="Arial" pitchFamily="34" charset="-122"/>
                <a:cs typeface="Arial" pitchFamily="34" charset="-120"/>
              </a:rPr>
              <a:t>In Progress</a:t>
            </a:r>
            <a:endParaRPr lang="en-US" sz="1800" dirty="0"/>
          </a:p>
        </p:txBody>
      </p:sp>
      <p:sp>
        <p:nvSpPr>
          <p:cNvPr id="13" name="Text 11"/>
          <p:cNvSpPr txBox="1"/>
          <p:nvPr/>
        </p:nvSpPr>
        <p:spPr>
          <a:xfrm>
            <a:off x="4612538" y="2194560"/>
            <a:ext cx="3012338" cy="31089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GDD Draft 1: Due 21 Sep, Presented 28 Sep</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Game Systems Design (Week 3 of COMP 8800)</a:t>
            </a:r>
            <a:endParaRPr lang="en-US" sz="1500" dirty="0"/>
          </a:p>
        </p:txBody>
      </p:sp>
      <p:sp>
        <p:nvSpPr>
          <p:cNvPr id="14" name="Shape 12"/>
          <p:cNvSpPr/>
          <p:nvPr/>
        </p:nvSpPr>
        <p:spPr>
          <a:xfrm>
            <a:off x="8127797" y="1371600"/>
            <a:ext cx="3515258" cy="4069080"/>
          </a:xfrm>
          <a:prstGeom prst="roundRect">
            <a:avLst>
              <a:gd name="adj" fmla="val 2081"/>
            </a:avLst>
          </a:prstGeom>
          <a:solidFill>
            <a:srgbClr val="F2F4F8"/>
          </a:solidFill>
          <a:ln/>
        </p:spPr>
        <p:txBody>
          <a:bodyPr/>
          <a:lstStyle/>
          <a:p>
            <a:endParaRPr lang="en-CA"/>
          </a:p>
        </p:txBody>
      </p:sp>
      <p:sp>
        <p:nvSpPr>
          <p:cNvPr id="15" name="Shape 13"/>
          <p:cNvSpPr/>
          <p:nvPr/>
        </p:nvSpPr>
        <p:spPr>
          <a:xfrm>
            <a:off x="8402117" y="1700784"/>
            <a:ext cx="201168" cy="201168"/>
          </a:xfrm>
          <a:prstGeom prst="ellipse">
            <a:avLst/>
          </a:prstGeom>
          <a:solidFill>
            <a:srgbClr val="C8102E"/>
          </a:solidFill>
          <a:ln/>
        </p:spPr>
        <p:txBody>
          <a:bodyPr/>
          <a:lstStyle/>
          <a:p>
            <a:endParaRPr lang="en-CA"/>
          </a:p>
        </p:txBody>
      </p:sp>
      <p:sp>
        <p:nvSpPr>
          <p:cNvPr id="16" name="Text 14"/>
          <p:cNvSpPr txBox="1"/>
          <p:nvPr/>
        </p:nvSpPr>
        <p:spPr>
          <a:xfrm>
            <a:off x="8722157" y="1600200"/>
            <a:ext cx="2692298" cy="411480"/>
          </a:xfrm>
          <a:prstGeom prst="rect">
            <a:avLst/>
          </a:prstGeom>
          <a:noFill/>
          <a:ln/>
        </p:spPr>
        <p:txBody>
          <a:bodyPr wrap="square" lIns="0" tIns="0" rIns="0" bIns="0" rtlCol="0" anchor="ctr"/>
          <a:lstStyle/>
          <a:p>
            <a:pPr marL="0" indent="0">
              <a:buNone/>
            </a:pPr>
            <a:r>
              <a:rPr lang="en-US" sz="1800" b="1" dirty="0">
                <a:solidFill>
                  <a:srgbClr val="1A202C"/>
                </a:solidFill>
                <a:latin typeface="Arial" pitchFamily="34" charset="0"/>
                <a:ea typeface="Arial" pitchFamily="34" charset="-122"/>
                <a:cs typeface="Arial" pitchFamily="34" charset="-120"/>
              </a:rPr>
              <a:t>Open Questions</a:t>
            </a:r>
            <a:endParaRPr lang="en-US" sz="1800" dirty="0"/>
          </a:p>
        </p:txBody>
      </p:sp>
      <p:sp>
        <p:nvSpPr>
          <p:cNvPr id="17" name="Text 15"/>
          <p:cNvSpPr txBox="1"/>
          <p:nvPr/>
        </p:nvSpPr>
        <p:spPr>
          <a:xfrm>
            <a:off x="8402117" y="2194560"/>
            <a:ext cx="3012338" cy="31089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Which Stick Direction Gives Roundhouse vs Hook Kick</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What Active Defense Mode (Hold LT) Does</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Posture and Strengths of the Four Guards</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Mocap Method: Markerless Video or Suit</a:t>
            </a:r>
            <a:endParaRPr lang="en-US" sz="1500" dirty="0"/>
          </a:p>
          <a:p>
            <a:pPr marL="177800" indent="-177800">
              <a:spcAft>
                <a:spcPts val="600"/>
              </a:spcAft>
              <a:buSzPct val="100000"/>
              <a:buChar char="•"/>
            </a:pPr>
            <a:r>
              <a:rPr lang="en-US" sz="1500" dirty="0">
                <a:solidFill>
                  <a:srgbClr val="1A202C"/>
                </a:solidFill>
                <a:latin typeface="Calibri" pitchFamily="34" charset="0"/>
                <a:ea typeface="Calibri" pitchFamily="34" charset="-122"/>
                <a:cs typeface="Calibri" pitchFamily="34" charset="-120"/>
              </a:rPr>
              <a:t>Telling Tornado Kick Apart from a Fake (Both Use LB)</a:t>
            </a:r>
            <a:endParaRPr lang="en-US" sz="1500" dirty="0"/>
          </a:p>
        </p:txBody>
      </p:sp>
      <p:sp>
        <p:nvSpPr>
          <p:cNvPr id="18" name="Text 16"/>
          <p:cNvSpPr txBox="1"/>
          <p:nvPr/>
        </p:nvSpPr>
        <p:spPr>
          <a:xfrm>
            <a:off x="548640" y="5669280"/>
            <a:ext cx="11094415" cy="274320"/>
          </a:xfrm>
          <a:prstGeom prst="rect">
            <a:avLst/>
          </a:prstGeom>
          <a:noFill/>
          <a:ln/>
        </p:spPr>
        <p:txBody>
          <a:bodyPr wrap="square" lIns="0" tIns="0" rIns="0" bIns="0" rtlCol="0" anchor="t"/>
          <a:lstStyle/>
          <a:p>
            <a:pPr marL="0" indent="0">
              <a:buNone/>
            </a:pPr>
            <a:r>
              <a:rPr lang="en-US" sz="1300" i="1" dirty="0">
                <a:solidFill>
                  <a:srgbClr val="5B6475"/>
                </a:solidFill>
                <a:latin typeface="Calibri" pitchFamily="34" charset="0"/>
                <a:ea typeface="Calibri" pitchFamily="34" charset="-122"/>
                <a:cs typeface="Calibri" pitchFamily="34" charset="-120"/>
              </a:rPr>
              <a:t>No Blockers. No Gameplay Code Yet: The Skill Stick Is Untested Until Milestone 1.</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80B10"/>
        </a:solidFill>
        <a:effectLst/>
      </p:bgPr>
    </p:bg>
    <p:spTree>
      <p:nvGrpSpPr>
        <p:cNvPr id="1" name=""/>
        <p:cNvGrpSpPr/>
        <p:nvPr/>
      </p:nvGrpSpPr>
      <p:grpSpPr>
        <a:xfrm>
          <a:off x="0" y="0"/>
          <a:ext cx="0" cy="0"/>
          <a:chOff x="0" y="0"/>
          <a:chExt cx="0" cy="0"/>
        </a:xfrm>
      </p:grpSpPr>
      <p:pic>
        <p:nvPicPr>
          <p:cNvPr id="2" name="Image 0" descr="img/cover.png"/>
          <p:cNvPicPr>
            <a:picLocks noChangeAspect="1"/>
          </p:cNvPicPr>
          <p:nvPr/>
        </p:nvPicPr>
        <p:blipFill>
          <a:blip r:embed="rId3"/>
          <a:stretch>
            <a:fillRect/>
          </a:stretch>
        </p:blipFill>
        <p:spPr>
          <a:xfrm>
            <a:off x="0" y="1981322"/>
            <a:ext cx="12191695" cy="4876678"/>
          </a:xfrm>
          <a:prstGeom prst="rect">
            <a:avLst/>
          </a:prstGeom>
        </p:spPr>
      </p:pic>
      <p:sp>
        <p:nvSpPr>
          <p:cNvPr id="3" name="Text 0"/>
          <p:cNvSpPr txBox="1"/>
          <p:nvPr/>
        </p:nvSpPr>
        <p:spPr>
          <a:xfrm>
            <a:off x="548640" y="914400"/>
            <a:ext cx="11094415" cy="1005840"/>
          </a:xfrm>
          <a:prstGeom prst="rect">
            <a:avLst/>
          </a:prstGeom>
          <a:noFill/>
          <a:ln/>
        </p:spPr>
        <p:txBody>
          <a:bodyPr wrap="square" lIns="0" tIns="0" rIns="0" bIns="0" rtlCol="0" anchor="ctr"/>
          <a:lstStyle/>
          <a:p>
            <a:pPr marL="0" indent="0" algn="ctr">
              <a:buNone/>
            </a:pPr>
            <a:r>
              <a:rPr lang="en-US" sz="5400" b="1" dirty="0">
                <a:solidFill>
                  <a:srgbClr val="FFFFFF"/>
                </a:solidFill>
                <a:latin typeface="Arial" pitchFamily="34" charset="0"/>
                <a:ea typeface="Arial" pitchFamily="34" charset="-122"/>
                <a:cs typeface="Arial" pitchFamily="34" charset="-120"/>
              </a:rPr>
              <a:t>Questions?</a:t>
            </a:r>
            <a:endParaRPr lang="en-US" sz="5400" dirty="0"/>
          </a:p>
        </p:txBody>
      </p:sp>
      <p:sp>
        <p:nvSpPr>
          <p:cNvPr id="4" name="Text 1"/>
          <p:cNvSpPr txBox="1"/>
          <p:nvPr/>
        </p:nvSpPr>
        <p:spPr>
          <a:xfrm>
            <a:off x="548640" y="1965960"/>
            <a:ext cx="11094415" cy="457200"/>
          </a:xfrm>
          <a:prstGeom prst="rect">
            <a:avLst/>
          </a:prstGeom>
          <a:noFill/>
          <a:ln/>
        </p:spPr>
        <p:txBody>
          <a:bodyPr wrap="square" lIns="0" tIns="0" rIns="0" bIns="0" rtlCol="0" anchor="t"/>
          <a:lstStyle/>
          <a:p>
            <a:pPr marL="0" indent="0" algn="ctr">
              <a:buNone/>
            </a:pPr>
            <a:r>
              <a:rPr lang="en-US" sz="2200" dirty="0">
                <a:solidFill>
                  <a:srgbClr val="C9D1DE"/>
                </a:solidFill>
                <a:latin typeface="Malgun Gothic" pitchFamily="34" charset="0"/>
                <a:ea typeface="Malgun Gothic" pitchFamily="34" charset="-122"/>
                <a:cs typeface="Malgun Gothic" pitchFamily="34" charset="-120"/>
              </a:rPr>
              <a:t>감사합니다 · Thank You</a:t>
            </a:r>
            <a:endParaRPr lang="en-US" sz="2200" dirty="0"/>
          </a:p>
        </p:txBody>
      </p:sp>
      <p:sp>
        <p:nvSpPr>
          <p:cNvPr id="5" name="Text 2"/>
          <p:cNvSpPr txBox="1"/>
          <p:nvPr/>
        </p:nvSpPr>
        <p:spPr>
          <a:xfrm>
            <a:off x="548640" y="2560320"/>
            <a:ext cx="11094415" cy="320040"/>
          </a:xfrm>
          <a:prstGeom prst="rect">
            <a:avLst/>
          </a:prstGeom>
          <a:noFill/>
          <a:ln/>
        </p:spPr>
        <p:txBody>
          <a:bodyPr wrap="square" lIns="0" tIns="0" rIns="0" bIns="0" rtlCol="0" anchor="t"/>
          <a:lstStyle/>
          <a:p>
            <a:pPr marL="0" indent="0" algn="ctr">
              <a:buNone/>
            </a:pPr>
            <a:r>
              <a:rPr lang="en-US" sz="1400" dirty="0">
                <a:solidFill>
                  <a:srgbClr val="8FA0B8"/>
                </a:solidFill>
                <a:latin typeface="Calibri" pitchFamily="34" charset="0"/>
                <a:ea typeface="Calibri" pitchFamily="34" charset="-122"/>
                <a:cs typeface="Calibri" pitchFamily="34" charset="-120"/>
              </a:rPr>
              <a:t>Open Stance: Gyeorugi · Joey Driedger · BCIT Capstone 2026–2027</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2045</Words>
  <Application>Microsoft Office PowerPoint</Application>
  <PresentationFormat>Widescreen</PresentationFormat>
  <Paragraphs>360</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Malgun Gothic</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 Stance: Gyeorugi — GDD Draft 1</dc:title>
  <dc:subject>PptxGenJS Presentation</dc:subject>
  <dc:creator>Joey Driedger</dc:creator>
  <cp:lastModifiedBy>Joey Driedger</cp:lastModifiedBy>
  <cp:revision>2</cp:revision>
  <dcterms:created xsi:type="dcterms:W3CDTF">2026-09-21T21:36:16Z</dcterms:created>
  <dcterms:modified xsi:type="dcterms:W3CDTF">2026-09-21T21:40:08Z</dcterms:modified>
</cp:coreProperties>
</file>